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63673c4-8bc9-a0fc-b32b-d2b34eddcc2e}">
          <p14:sldIdLst>
            <p14:sldId id="256"/>
            <p14:sldId id="257"/>
            <p14:sldId id="258"/>
          </p14:sldIdLst>
        </p14:section>
        <p14:section name="Trends" id="{0bcf517f-aaf4-613f-00f8-bb04f062cec1}">
          <p14:sldIdLst>
            <p14:sldId id="259"/>
            <p14:sldId id="260"/>
            <p14:sldId id="261"/>
          </p14:sldIdLst>
        </p14:section>
        <p14:section name="Deployment versus results" id="{394735d5-ea59-b96c-b726-cba11a7cc672}">
          <p14:sldIdLst>
            <p14:sldId id="262"/>
            <p14:sldId id="263"/>
            <p14:sldId id="264"/>
            <p14:sldId id="265"/>
            <p14:sldId id="266"/>
          </p14:sldIdLst>
        </p14:section>
        <p14:section name="Resources and data" id="{e15f5a51-55c1-a4e0-978c-b86ee88b0797}">
          <p14:sldIdLst>
            <p14:sldId id="267"/>
            <p14:sldId id="268"/>
            <p14:sldId id="269"/>
          </p14:sldIdLst>
        </p14:section>
        <p14:section name="Next steps" id="{c53950b5-1f54-697a-0e57-f30c77f554f8}">
          <p14:sldIdLst>
            <p14:sldId id="270"/>
            <p14:sldId id="271"/>
          </p14:sldIdLst>
        </p14:section>
        <p14:section name="Appendix" id="{2bd67407-9952-3054-9dbb-37a7fc12db13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Proclaimed offenders (PO)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(257)</c:v>
                  </c:pt>
                  <c:pt idx="1">
                    <c:v>Q2  (233)</c:v>
                  </c:pt>
                  <c:pt idx="2">
                    <c:v>Q3  (572)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51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Court absconders (CA)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(257)</c:v>
                  </c:pt>
                  <c:pt idx="1">
                    <c:v>Q2  (233)</c:v>
                  </c:pt>
                  <c:pt idx="2">
                    <c:v>Q3  (572)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21</c:v>
                </c:pt>
                <c:pt idx="2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TOs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(257)</c:v>
                  </c:pt>
                  <c:pt idx="1">
                    <c:v>Q2  (233)</c:v>
                  </c:pt>
                  <c:pt idx="2">
                    <c:v>Q3  (572)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153</c:v>
                </c:pt>
                <c:pt idx="1">
                  <c:v>151</c:v>
                </c:pt>
                <c:pt idx="2">
                  <c:v>228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Illegal Afghan nationals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(257)</c:v>
                  </c:pt>
                  <c:pt idx="1">
                    <c:v>Q2  (233)</c:v>
                  </c:pt>
                  <c:pt idx="2">
                    <c:v>Q3  (572)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42</c:v>
                </c:pt>
                <c:pt idx="1">
                  <c:v>10</c:v>
                </c:pt>
                <c:pt idx="2">
                  <c:v>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(98 kg)</c:v>
                  </c:pt>
                  <c:pt idx="1">
                    <c:v>Q2  (211 kg)</c:v>
                  </c:pt>
                  <c:pt idx="2">
                    <c:v>Q3  (43 kg)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89.6</c:v>
                </c:pt>
                <c:pt idx="1">
                  <c:v>192.1</c:v>
                </c:pt>
                <c:pt idx="2">
                  <c:v>38.2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(98 kg)</c:v>
                  </c:pt>
                  <c:pt idx="1">
                    <c:v>Q2  (211 kg)</c:v>
                  </c:pt>
                  <c:pt idx="2">
                    <c:v>Q3  (43 kg)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</c:v>
                </c:pt>
                <c:pt idx="1">
                  <c:v>17.3</c:v>
                </c:pt>
                <c:pt idx="2">
                  <c:v>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Heroin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(98 kg)</c:v>
                  </c:pt>
                  <c:pt idx="1">
                    <c:v>Q2  (211 kg)</c:v>
                  </c:pt>
                  <c:pt idx="2">
                    <c:v>Q3  (43 kg)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Opium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(98 kg)</c:v>
                  </c:pt>
                  <c:pt idx="1">
                    <c:v>Q2  (211 kg)</c:v>
                  </c:pt>
                  <c:pt idx="2">
                    <c:v>Q3  (43 kg)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Q2 to Q3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Illegal Afghan nationals</c:v>
                  </c:pt>
                  <c:pt idx="1">
                    <c:v>TOs</c:v>
                  </c:pt>
                  <c:pt idx="2">
                    <c:v>Court absconders (CA)</c:v>
                  </c:pt>
                  <c:pt idx="3">
                    <c:v>Proclaimed offenders (PO)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274</c:v>
                </c:pt>
                <c:pt idx="1">
                  <c:v>77</c:v>
                </c:pt>
                <c:pt idx="2">
                  <c:v>-1</c:v>
                </c:pt>
                <c:pt idx="3">
                  <c:v>-11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-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Joint check posts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16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Border check posts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Joint check posts (15)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Personnel</c:v>
                  </c:pt>
                  <c:pt idx="1">
                    <c:v>Elite force</c:v>
                  </c:pt>
                  <c:pt idx="2">
                    <c:v>Arrests</c:v>
                  </c:pt>
                  <c:pt idx="3">
                    <c:v>Narcotics (kg)</c:v>
                  </c:pt>
                  <c:pt idx="4">
                    <c:v>Weapons recovered</c:v>
                  </c:pt>
                  <c:pt idx="5">
                    <c:v>Rounds recovered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</c:v>
                </c:pt>
                <c:pt idx="1">
                  <c:v>25</c:v>
                </c:pt>
                <c:pt idx="2">
                  <c:v>90</c:v>
                </c:pt>
                <c:pt idx="3">
                  <c:v>94</c:v>
                </c:pt>
                <c:pt idx="4">
                  <c:v>62</c:v>
                </c:pt>
                <c:pt idx="5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Border check posts (16)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Personnel</c:v>
                  </c:pt>
                  <c:pt idx="1">
                    <c:v>Elite force</c:v>
                  </c:pt>
                  <c:pt idx="2">
                    <c:v>Arrests</c:v>
                  </c:pt>
                  <c:pt idx="3">
                    <c:v>Narcotics (kg)</c:v>
                  </c:pt>
                  <c:pt idx="4">
                    <c:v>Weapons recovered</c:v>
                  </c:pt>
                  <c:pt idx="5">
                    <c:v>Rounds recovered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</c:v>
                </c:pt>
                <c:pt idx="1">
                  <c:v>75</c:v>
                </c:pt>
                <c:pt idx="2">
                  <c:v>10</c:v>
                </c:pt>
                <c:pt idx="3">
                  <c:v>6</c:v>
                </c:pt>
                <c:pt idx="4">
                  <c:v>38</c:v>
                </c:pt>
                <c:pt idx="5">
                  <c:v>23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Sakhi Sarwar (15)</c:v>
                  </c:pt>
                  <c:pt idx="1">
                    <c:v>Ghazi Ghat (9)</c:v>
                  </c:pt>
                  <c:pt idx="2">
                    <c:v>Dajal (39)</c:v>
                  </c:pt>
                  <c:pt idx="3">
                    <c:v>Taunsa Barrage (5)</c:v>
                  </c:pt>
                  <c:pt idx="4">
                    <c:v>Kot Tahir (9)</c:v>
                  </c:pt>
                  <c:pt idx="5">
                    <c:v>Daowala (20)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256</c:v>
                </c:pt>
                <c:pt idx="1">
                  <c:v>216</c:v>
                </c:pt>
                <c:pt idx="2">
                  <c:v>115</c:v>
                </c:pt>
                <c:pt idx="3">
                  <c:v>106</c:v>
                </c:pt>
                <c:pt idx="4">
                  <c:v>62</c:v>
                </c:pt>
                <c:pt idx="5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Narcotics kg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Attock Khurd (21)</c:v>
                  </c:pt>
                  <c:pt idx="1">
                    <c:v>Trimin (26)</c:v>
                  </c:pt>
                  <c:pt idx="2">
                    <c:v>ACLC Jhari Kass (16)</c:v>
                  </c:pt>
                  <c:pt idx="3">
                    <c:v>Khushal Garh (23)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247.4</c:v>
                </c:pt>
                <c:pt idx="1">
                  <c:v>67</c:v>
                </c:pt>
                <c:pt idx="2">
                  <c:v>15.4</c:v>
                </c:pt>
                <c:pt idx="3">
                  <c:v>13.4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C9D3C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R.Y. Khan</c:v>
                  </c:pt>
                  <c:pt idx="5">
                    <c:v>Murree</c:v>
                  </c:pt>
                  <c:pt idx="6">
                    <c:v>Rajanpur</c:v>
                  </c:pt>
                  <c:pt idx="7">
                    <c:v>Kot Addu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21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R.Y. Khan</c:v>
                  </c:pt>
                  <c:pt idx="5">
                    <c:v>Murree</c:v>
                  </c:pt>
                  <c:pt idx="6">
                    <c:v>Rajanpur</c:v>
                  </c:pt>
                  <c:pt idx="7">
                    <c:v>Kot Addu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</c:v>
                </c:pt>
                <c:pt idx="1">
                  <c:v>47</c:v>
                </c:pt>
                <c:pt idx="2">
                  <c:v>11</c:v>
                </c:pt>
                <c:pt idx="3">
                  <c:v>0</c:v>
                </c:pt>
                <c:pt idx="4">
                  <c:v>9</c:v>
                </c:pt>
                <c:pt idx="5">
                  <c:v>0</c:v>
                </c:pt>
                <c:pt idx="6">
                  <c:v>7</c:v>
                </c:pt>
                <c:pt idx="7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Narcotics (kg)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Bhakkar</c:v>
                  </c:pt>
                  <c:pt idx="3">
                    <c:v>Attock</c:v>
                  </c:pt>
                  <c:pt idx="4">
                    <c:v>R.Y. Khan</c:v>
                  </c:pt>
                  <c:pt idx="5">
                    <c:v>Murree</c:v>
                  </c:pt>
                  <c:pt idx="6">
                    <c:v>Rajanpur</c:v>
                  </c:pt>
                  <c:pt idx="7">
                    <c:v>Kot Addu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19</c:v>
                </c:pt>
                <c:pt idx="2">
                  <c:v>1</c:v>
                </c:pt>
                <c:pt idx="3">
                  <c:v>79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 force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Lakhani (D.G. Khan)</c:v>
                  </c:pt>
                  <c:pt idx="1">
                    <c:v>Qabool Khel (Mianwali)</c:v>
                  </c:pt>
                  <c:pt idx="2">
                    <c:v>Kundal (Mianwali)</c:v>
                  </c:pt>
                  <c:pt idx="3">
                    <c:v>Jhangi (D.G. Khan)</c:v>
                  </c:pt>
                  <c:pt idx="4">
                    <c:v>Barian</c:v>
                  </c:pt>
                  <c:pt idx="5">
                    <c:v>Ghora Gali</c:v>
                  </c:pt>
                  <c:pt idx="6">
                    <c:v>Upper Dewal</c:v>
                  </c:pt>
                  <c:pt idx="7">
                    <c:v>Lower Dewal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</c:v>
                </c:pt>
                <c:pt idx="1">
                  <c:v>23</c:v>
                </c:pt>
                <c:pt idx="2">
                  <c:v>8</c:v>
                </c:pt>
                <c:pt idx="3">
                  <c:v>17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Police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Lakhani (D.G. Khan)</c:v>
                  </c:pt>
                  <c:pt idx="1">
                    <c:v>Qabool Khel (Mianwali)</c:v>
                  </c:pt>
                  <c:pt idx="2">
                    <c:v>Kundal (Mianwali)</c:v>
                  </c:pt>
                  <c:pt idx="3">
                    <c:v>Jhangi (D.G. Khan)</c:v>
                  </c:pt>
                  <c:pt idx="4">
                    <c:v>Barian</c:v>
                  </c:pt>
                  <c:pt idx="5">
                    <c:v>Ghora Gali</c:v>
                  </c:pt>
                  <c:pt idx="6">
                    <c:v>Upper Dewal</c:v>
                  </c:pt>
                  <c:pt idx="7">
                    <c:v>Lower Dewal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</c:v>
                </c:pt>
                <c:pt idx="1">
                  <c:v>14</c:v>
                </c:pt>
                <c:pt idx="2">
                  <c:v>28</c:v>
                </c:pt>
                <c:pt idx="3">
                  <c:v>13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Jackets per person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Shakardara (20)</c:v>
                  </c:pt>
                  <c:pt idx="1">
                    <c:v>Khushal Garh (23)</c:v>
                  </c:pt>
                  <c:pt idx="2">
                    <c:v>Kotsabzal (26)</c:v>
                  </c:pt>
                  <c:pt idx="3">
                    <c:v>Railway Pull PS Kalabagh (6)</c:v>
                  </c:pt>
                  <c:pt idx="4">
                    <c:v>Jhoka Kot Mithan (11)</c:v>
                  </c:pt>
                  <c:pt idx="5">
                    <c:v>ACLC Jhari Kass (16)</c:v>
                  </c:pt>
                  <c:pt idx="6">
                    <c:v>Jinah Barrage PS Kalabagh (10)</c:v>
                  </c:pt>
                  <c:pt idx="7">
                    <c:v>Taunsa Barrage (5)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26</c:v>
                </c:pt>
                <c:pt idx="2">
                  <c:v>27</c:v>
                </c:pt>
                <c:pt idx="3">
                  <c:v>33</c:v>
                </c:pt>
                <c:pt idx="4">
                  <c:v>36</c:v>
                </c:pt>
                <c:pt idx="5">
                  <c:v>38</c:v>
                </c:pt>
                <c:pt idx="6">
                  <c:v>40</c:v>
                </c:pt>
                <c:pt idx="7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C9D3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Rangers</c:v>
                  </c:pt>
                  <c:pt idx="1">
                    <c:v>Police</c:v>
                  </c:pt>
                  <c:pt idx="2">
                    <c:v>Customs</c:v>
                  </c:pt>
                  <c:pt idx="3">
                    <c:v>Food</c:v>
                  </c:pt>
                  <c:pt idx="4">
                    <c:v>Health</c:v>
                  </c:pt>
                  <c:pt idx="5">
                    <c:v>SB</c:v>
                  </c:pt>
                  <c:pt idx="6">
                    <c:v>Agriculture</c:v>
                  </c:pt>
                  <c:pt idx="7">
                    <c:v>SPU</c:v>
                  </c:pt>
                  <c:pt idx="8">
                    <c:v>Revenue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270</c:v>
                </c:pt>
                <c:pt idx="1">
                  <c:v>265</c:v>
                </c:pt>
                <c:pt idx="2">
                  <c:v>232</c:v>
                </c:pt>
                <c:pt idx="3">
                  <c:v>44</c:v>
                </c:pt>
                <c:pt idx="4">
                  <c:v>32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quarterly_performanc_of_JCP__BCP.xlsx (sheets 'Joint Check Posts' and 'Border Posts'). Q1 = 1 Jan-31 Mar, Q2 = 1 Apr-30 Jun, Q3 = 1 Jul-30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headline messages. Each is evidenced in the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Arrests: 257, 233, 572. Narcotics: 98.4, 211.5, 42.9 kg. Inverse pattern suggests a move from seizure-led interdiction (Q2, Attock and Trimin) to people-led enforcement (Q3, southern Punjab posts).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JCP: 265 personnel (43%), 955 arrests (90%), 333 kg (94%), 33 weapons (62%), 192 rounds (77%). BCP: 355 personnel, 107 arrests, 19.9 kg, 20 weapons, 58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Method: for each of 31 posts, share of total arrests (1,062), narcotics (352.8 kg) and weapons (53) are averaged. Average post = 20 personnel and index 3.2. Quadrant results: heavy-low 13 posts/363 personnel/14.8% output; core 5 posts/143/61.2%; lean 3/29/18.1%; light 10/85/5.9%.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Joint and Border Check Posts  |  Performance review, Q1–Q3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Quarterly performance of Joint and Border Check Posts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January–September 2026  |  31 posts, 8 districts, three quarters of results, with insights and recommendations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Executive summary: results are concentrated in a few lean posts while most of the force sits where little is reported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Arrests more than doubled in Q3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60020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233 → 572. Four-fifths of the rise is Afghan nationals arrested, almost all at two D.G. Khan posts (283 of 284).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780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Narcotics seizures are lumpy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478024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353 kg in nine months; two posts (Attock Khurd, Trimin) hold 89%. Q3 fell 80% on Q2.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558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posts out-deliver border posts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355848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43% of personnel, but 90% of arrests and 94% of narcotics. Border posts hold 75% of the elite force.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33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does not follow results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4233672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posts hold 59% of personnel for 15% of output. 8 border posts (171 personnel) reported no output.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11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not yet decision-grade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5111496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posts with wrong coordinates, one post listed twice, 9 cameras unaccounted for, “TOs” undefined.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Quarterly performance workbook (Joint Check Posts and Border Posts sheets), 1 Jan–30 Sep 2026; team analysis.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 a glance: 31 posts and 620 personnel produced 1,062 arrests and 353 kg of narcotics in nine months</a:t>
            </a:r>
            <a:endParaRPr lang="en-US" sz="26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posts: 15 joint (JCP) and 16 border (BCP)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429768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police personnel deployed, of whom 178 are elite force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804672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arrests: POs, CAs, TOs and illegal Afghan nationals</a:t>
            </a:r>
            <a:endParaRPr lang="en-US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 kg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274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narcotics seized: 320 kg chars, 25 kg ICE, 5 kg heroin</a:t>
            </a:r>
            <a:endParaRPr lang="en-US" sz="1400" dirty="0"/>
          </a:p>
        </p:txBody>
      </p:sp>
      <p:sp>
        <p:nvSpPr>
          <p:cNvPr id="15" name="Card 5"/>
          <p:cNvSpPr/>
          <p:nvPr/>
        </p:nvSpPr>
        <p:spPr>
          <a:xfrm>
            <a:off x="429768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274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weapons recovered, with 250 rounds of ammunition</a:t>
            </a:r>
            <a:endParaRPr lang="en-US" sz="1400" dirty="0"/>
          </a:p>
        </p:txBody>
      </p:sp>
      <p:sp>
        <p:nvSpPr>
          <p:cNvPr id="18" name="Card 6"/>
          <p:cNvSpPr/>
          <p:nvPr/>
        </p:nvSpPr>
        <p:spPr>
          <a:xfrm>
            <a:off x="804672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7274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districts covered; Mianwali alone has 9 posts</a:t>
            </a:r>
            <a:endParaRPr lang="en-US" sz="14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Note: sheet totals were re-computed from post-level rows and reconcile for every column. Chashma appears in both sheets with identical deployment (25), so combined personnel may be overstated by up to 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Enforcement switched mode: narcotics seizures peaked in Q2, then arrests surged in Q3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 by category,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 seized by type, kg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High-value drugs (ICE + heroin): 6.8 kg in Q1, 19.3 kg in Q2, 4.5 kg in Q3. Arrests excluding Afghan nationals: 215, 223, 288. Column labels show quarter totals.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Q3 surge is a southern crackdown: 81% of the rise is Afghan-national arrests, almost all at two D.G. Khan posts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Change in arrests, Q2 to Q3,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Afghan arrests in Q3"/>
          <p:cNvSpPr txBox="1"/>
          <p:nvPr/>
        </p:nvSpPr>
        <p:spPr>
          <a:xfrm>
            <a:off x="7040880" y="1691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 of 284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Afghan arrests in Q3 were at Sakhi Sarwar (230) and Ghazi Ghat (53), both in D.G. Khan</a:t>
            </a:r>
            <a:endParaRPr lang="en-US" sz="1400" dirty="0"/>
          </a:p>
        </p:txBody>
      </p:sp>
      <p:sp>
        <p:nvSpPr>
          <p:cNvPr id="7" name="Stat added at Kot Tahir ("/>
          <p:cNvSpPr txBox="1"/>
          <p:nvPr/>
        </p:nvSpPr>
        <p:spPr>
          <a:xfrm>
            <a:off x="7040880" y="3200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 TOs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at Kot Tahir (0→52), Daowala (2→24) and Kotsabzal (0→16) in Rajanpur and R.Y. Khan</a:t>
            </a:r>
            <a:endParaRPr lang="en-US" sz="1400" dirty="0"/>
          </a:p>
        </p:txBody>
      </p:sp>
      <p:sp>
        <p:nvSpPr>
          <p:cNvPr id="9" name="Stat Q3 arrests excluding"/>
          <p:cNvSpPr txBox="1"/>
          <p:nvPr/>
        </p:nvSpPr>
        <p:spPr>
          <a:xfrm>
            <a:off x="704088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Q3 arrests excluding Afghan nationals (223→288): the underlying trend is steady growth, not a step change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Afghan arrests: Q1 42, Q2 10, Q3 284. A single sweep of this size is unlikely to repeat every quarter; plan Q4 targets on the underlying run-rate.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Weapons recovery is rising at border posts (4 to 10 a quarter) while joint posts are volatile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Weapons recovered by quarter,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8521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border-post recoveri"/>
          <p:cNvSpPr txBox="1"/>
          <p:nvPr/>
        </p:nvSpPr>
        <p:spPr>
          <a:xfrm>
            <a:off x="685800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border-post recoveries Q1 to Q3 (4→10); Bhakkar’s Pattan Kanial and Rohila Gharbi made 9 of the 10 in Q3</a:t>
            </a:r>
            <a:endParaRPr lang="en-US" sz="1400" dirty="0"/>
          </a:p>
        </p:txBody>
      </p:sp>
      <p:sp>
        <p:nvSpPr>
          <p:cNvPr id="7" name="Stat joint-post recoverie"/>
          <p:cNvSpPr txBox="1"/>
          <p:nvPr/>
        </p:nvSpPr>
        <p:spPr>
          <a:xfrm>
            <a:off x="685800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of 33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joint-post recoveries come from Attock (19) and Trimin (7); there are no rifles or pump-actions at joint posts</a:t>
            </a:r>
            <a:endParaRPr lang="en-US" sz="1400" dirty="0"/>
          </a:p>
        </p:txBody>
      </p:sp>
      <p:sp>
        <p:nvSpPr>
          <p:cNvPr id="9" name="Stat of the 53 weapons; a"/>
          <p:cNvSpPr txBox="1"/>
          <p:nvPr/>
        </p:nvSpPr>
        <p:spPr>
          <a:xfrm>
            <a:off x="6858000" y="4709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pistols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5440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53 weapons; also 10 rifles and 5 K.Kove. Rounds recovered fell 108→97→45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Weapons = pistols, rifles, pump-action guns and K.Kove. Joint posts: 8, 16, 9; border posts: 4, 6, 10.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Joint posts deliver about 90% of arrests and narcotics from 43% of the force; border posts hold the elite force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 of total, %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arrests per deployed"/>
          <p:cNvSpPr txBox="1"/>
          <p:nvPr/>
        </p:nvSpPr>
        <p:spPr>
          <a:xfrm>
            <a:off x="795528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vs 0.3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 per deployed person over nine months, joint vs border posts: a 12x gap</a:t>
            </a:r>
            <a:endParaRPr lang="en-US" sz="1400" dirty="0"/>
          </a:p>
        </p:txBody>
      </p:sp>
      <p:sp>
        <p:nvSpPr>
          <p:cNvPr id="7" name="Stat kg of narcotics per "/>
          <p:cNvSpPr txBox="1"/>
          <p:nvPr/>
        </p:nvSpPr>
        <p:spPr>
          <a:xfrm>
            <a:off x="7955280" y="3200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 vs 0.06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kg of narcotics per deployed person, joint vs border posts: a 22x gap</a:t>
            </a:r>
            <a:endParaRPr lang="en-US" sz="1400" dirty="0"/>
          </a:p>
        </p:txBody>
      </p:sp>
      <p:sp>
        <p:nvSpPr>
          <p:cNvPr id="9" name="Stat of the 178 elite-for"/>
          <p:cNvSpPr txBox="1"/>
          <p:nvPr/>
        </p:nvSpPr>
        <p:spPr>
          <a:xfrm>
            <a:off x="7955280" y="4709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178 elite-force personnel are posted to border posts (133)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Border posts may carry deterrence, screening and security tasks that are not captured by arrest and seizure counts; the comparison shows reported output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 are highly concentrated: six posts produce 77% of arrests and two posts produce 89% of narcotics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Arrests, top 6 posts (personnel in brackets)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Narcotics, top 4 posts, kg (personnel in brackets)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akeaway box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Implication: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top three arrest posts have 29 personnel (5% of the force) and 54% of arrests; one post, Attock Khurd, has 70% of all narcotics with 21 personnel.</a:t>
            </a:r>
            <a:endParaRPr lang="en-US" sz="1400" dirty="0"/>
          </a:p>
        </p:txBody>
      </p:sp>
      <p:sp>
        <p:nvSpPr>
          <p:cNvPr id="9" name="Source note"/>
          <p:cNvSpPr txBox="1"/>
          <p:nvPr/>
        </p:nvSpPr>
        <p:spPr>
          <a:xfrm>
            <a:off x="548640" y="610819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post-level totals, Jan–Sep 2026. Kot Tahir, Daowala, Dajal and Taunsa Barrage complete the top six for arrests.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By district, deployment and results are out of line: Mianwali holds 35% of personnel but 0.4% of narcotics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 of total, % (nine months)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75895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Mianwali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84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 posts, 215 personnel (35%): 16% of arrests, 0.4% of narcotics.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D.G. Khan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21% of personnel, 47% of arrests, 19% of narcotics: the strongest all-round district.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49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Attock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142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12% of personnel, 79% of narcotics, but zero arrests in all four posts.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928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 Addu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2212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post, 5 personnel, 106 arrests (10% of total).</a:t>
            </a:r>
            <a:endParaRPr lang="en-US" sz="1300" dirty="0"/>
          </a:p>
        </p:txBody>
      </p:sp>
      <p:sp>
        <p:nvSpPr>
          <p:cNvPr id="1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Murree (4 posts, 20 personnel) reports no arrests or seizures. R.Y. Khan and Rajanpur contribute arrests only; no narcotics are recorded.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Deployment matrix: 13 posts hold 59% of personnel but generate 15% of output, while three lean posts deliver 54% of arrests</a:t>
            </a:r>
            <a:endParaRPr lang="en-US" sz="2600" dirty="0"/>
          </a:p>
        </p:txBody>
      </p:sp>
      <p:sp>
        <p:nvSpPr>
          <p:cNvPr id="3" name="Quadrant lean"/>
          <p:cNvSpPr/>
          <p:nvPr/>
        </p:nvSpPr>
        <p:spPr>
          <a:xfrm>
            <a:off x="1051560" y="1828800"/>
            <a:ext cx="2596896" cy="228698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Quadrant core"/>
          <p:cNvSpPr/>
          <p:nvPr/>
        </p:nvSpPr>
        <p:spPr>
          <a:xfrm>
            <a:off x="3648456" y="1828800"/>
            <a:ext cx="3895344" cy="228698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Quadrant light"/>
          <p:cNvSpPr/>
          <p:nvPr/>
        </p:nvSpPr>
        <p:spPr>
          <a:xfrm>
            <a:off x="1051560" y="4115782"/>
            <a:ext cx="2596896" cy="123345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Quadrant heavy"/>
          <p:cNvSpPr/>
          <p:nvPr/>
        </p:nvSpPr>
        <p:spPr>
          <a:xfrm>
            <a:off x="3648456" y="4115782"/>
            <a:ext cx="3895344" cy="1233458"/>
          </a:xfrm>
          <a:prstGeom prst="rect">
            <a:avLst/>
          </a:prstGeom>
          <a:solidFill>
            <a:schemeClr val="accent6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LEAN PERFORMERS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41848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CORE PERFORMERS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46504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LIGHT-TOUCH POSTS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41848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HEAVY, LOW YIELD</a:t>
            </a:r>
            <a:endParaRPr lang="en-US" sz="1100" dirty="0"/>
          </a:p>
        </p:txBody>
      </p:sp>
      <p:sp>
        <p:nvSpPr>
          <p:cNvPr id="11" name="Post 1"/>
          <p:cNvSpPr/>
          <p:nvPr/>
        </p:nvSpPr>
        <p:spPr>
          <a:xfrm>
            <a:off x="3955694" y="3561226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Post 2"/>
          <p:cNvSpPr/>
          <p:nvPr/>
        </p:nvSpPr>
        <p:spPr>
          <a:xfrm>
            <a:off x="3696005" y="174650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Post 3"/>
          <p:cNvSpPr/>
          <p:nvPr/>
        </p:nvSpPr>
        <p:spPr>
          <a:xfrm>
            <a:off x="2267712" y="4793901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Post 4"/>
          <p:cNvSpPr/>
          <p:nvPr/>
        </p:nvSpPr>
        <p:spPr>
          <a:xfrm>
            <a:off x="3566160" y="4646303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Post 5"/>
          <p:cNvSpPr/>
          <p:nvPr/>
        </p:nvSpPr>
        <p:spPr>
          <a:xfrm>
            <a:off x="4215384" y="4679422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Post 6"/>
          <p:cNvSpPr/>
          <p:nvPr/>
        </p:nvSpPr>
        <p:spPr>
          <a:xfrm>
            <a:off x="1748333" y="4671077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7" name="Post 7"/>
          <p:cNvSpPr/>
          <p:nvPr/>
        </p:nvSpPr>
        <p:spPr>
          <a:xfrm>
            <a:off x="6033211" y="3179975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Post 8"/>
          <p:cNvSpPr/>
          <p:nvPr/>
        </p:nvSpPr>
        <p:spPr>
          <a:xfrm>
            <a:off x="4345229" y="1815087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Post 9"/>
          <p:cNvSpPr/>
          <p:nvPr/>
        </p:nvSpPr>
        <p:spPr>
          <a:xfrm>
            <a:off x="2916936" y="2780470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Post 10"/>
          <p:cNvSpPr/>
          <p:nvPr/>
        </p:nvSpPr>
        <p:spPr>
          <a:xfrm>
            <a:off x="2137867" y="3105915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1" name="Post 11"/>
          <p:cNvSpPr/>
          <p:nvPr/>
        </p:nvSpPr>
        <p:spPr>
          <a:xfrm>
            <a:off x="2137867" y="4368319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Post 12"/>
          <p:cNvSpPr/>
          <p:nvPr/>
        </p:nvSpPr>
        <p:spPr>
          <a:xfrm>
            <a:off x="2397557" y="4769388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3" name="Post 13"/>
          <p:cNvSpPr/>
          <p:nvPr/>
        </p:nvSpPr>
        <p:spPr>
          <a:xfrm>
            <a:off x="1618488" y="4008191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Post 14"/>
          <p:cNvSpPr/>
          <p:nvPr/>
        </p:nvSpPr>
        <p:spPr>
          <a:xfrm>
            <a:off x="4345229" y="4302343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5" name="Post 15"/>
          <p:cNvSpPr/>
          <p:nvPr/>
        </p:nvSpPr>
        <p:spPr>
          <a:xfrm>
            <a:off x="3566160" y="4376403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6" name="Post 16"/>
          <p:cNvSpPr/>
          <p:nvPr/>
        </p:nvSpPr>
        <p:spPr>
          <a:xfrm>
            <a:off x="3046781" y="4331811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7" name="Post 17"/>
          <p:cNvSpPr/>
          <p:nvPr/>
        </p:nvSpPr>
        <p:spPr>
          <a:xfrm>
            <a:off x="2657246" y="4778776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8" name="Post 18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9" name="Post 19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0" name="Post 20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1" name="Post 21"/>
          <p:cNvSpPr/>
          <p:nvPr/>
        </p:nvSpPr>
        <p:spPr>
          <a:xfrm>
            <a:off x="1618488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2" name="Post 22"/>
          <p:cNvSpPr/>
          <p:nvPr/>
        </p:nvSpPr>
        <p:spPr>
          <a:xfrm>
            <a:off x="3566160" y="4638480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3" name="Post 23"/>
          <p:cNvSpPr/>
          <p:nvPr/>
        </p:nvSpPr>
        <p:spPr>
          <a:xfrm>
            <a:off x="5773522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4" name="Post 24"/>
          <p:cNvSpPr/>
          <p:nvPr/>
        </p:nvSpPr>
        <p:spPr>
          <a:xfrm>
            <a:off x="5643677" y="443742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5" name="Post 25"/>
          <p:cNvSpPr/>
          <p:nvPr/>
        </p:nvSpPr>
        <p:spPr>
          <a:xfrm>
            <a:off x="5643677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6" name="Post 26"/>
          <p:cNvSpPr/>
          <p:nvPr/>
        </p:nvSpPr>
        <p:spPr>
          <a:xfrm>
            <a:off x="4215384" y="4211855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7" name="Post 27"/>
          <p:cNvSpPr/>
          <p:nvPr/>
        </p:nvSpPr>
        <p:spPr>
          <a:xfrm>
            <a:off x="3566160" y="4531302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8" name="Post 28"/>
          <p:cNvSpPr/>
          <p:nvPr/>
        </p:nvSpPr>
        <p:spPr>
          <a:xfrm>
            <a:off x="3566160" y="421159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9" name="Post 29"/>
          <p:cNvSpPr/>
          <p:nvPr/>
        </p:nvSpPr>
        <p:spPr>
          <a:xfrm>
            <a:off x="5383987" y="3219352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0" name="Post 30"/>
          <p:cNvSpPr/>
          <p:nvPr/>
        </p:nvSpPr>
        <p:spPr>
          <a:xfrm>
            <a:off x="4864608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1" name="Post 31"/>
          <p:cNvSpPr/>
          <p:nvPr/>
        </p:nvSpPr>
        <p:spPr>
          <a:xfrm>
            <a:off x="7201814" y="487578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81021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Attock Khurd (index 31.6, off scale)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55541" y="1796799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Trimin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243523" y="3161687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Dajal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295851" y="32010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Rohila Gharbi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993392" y="255187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Sakhi Sarwar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348179" y="308762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Ghazi Ghat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828800" y="398990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Taunsa Barrage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335024" y="5049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Murree x4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918350" y="4683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Lakhani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81144" y="4683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Jhangi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085893" y="4674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Qabool Khel, Kundal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853989" y="4419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Daratang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2121408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3419856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4718304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30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016752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40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31520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67512" y="4857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" y="40751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67512" y="329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6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67512" y="25105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9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67512" y="17282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12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051560" y="5596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Personnel deployed (cut-off: average post, 20)</a:t>
            </a:r>
            <a:endParaRPr lang="en-US" sz="1100" dirty="0"/>
          </a:p>
        </p:txBody>
      </p:sp>
      <p:sp>
        <p:nvSpPr>
          <p:cNvPr id="66" name="Y axis title"/>
          <p:cNvSpPr txBox="1"/>
          <p:nvPr/>
        </p:nvSpPr>
        <p:spPr>
          <a:xfrm>
            <a:off x="320040" y="1828800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Output index, % (cut-off: 3.2)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183880" y="56692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66760" y="5623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Joint check post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875520" y="5669280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058400" y="56235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Border check post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81838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Heavy, low yield</a:t>
            </a:r>
            <a:endParaRPr lang="en-US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818388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13 posts  |  59% of personnel  |  15% of output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818388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Review deployment first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818388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performers</a:t>
            </a:r>
            <a:endParaRPr lang="en-US" sz="1500" dirty="0"/>
          </a:p>
        </p:txBody>
      </p:sp>
      <p:sp>
        <p:nvSpPr>
          <p:cNvPr id="75" name="Text 73"/>
          <p:cNvSpPr txBox="1"/>
          <p:nvPr/>
        </p:nvSpPr>
        <p:spPr>
          <a:xfrm>
            <a:off x="818388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posts  |  23% of personnel  |  61% of output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8183880" y="3264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Sustain; watch Dajal and Trimin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818388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performers</a:t>
            </a:r>
            <a:endParaRPr lang="en-US" sz="1500" dirty="0"/>
          </a:p>
        </p:txBody>
      </p:sp>
      <p:sp>
        <p:nvSpPr>
          <p:cNvPr id="78" name="Text 76"/>
          <p:cNvSpPr txBox="1"/>
          <p:nvPr/>
        </p:nvSpPr>
        <p:spPr>
          <a:xfrm>
            <a:off x="818388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posts  |  5% of personnel  |  18% of output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8183880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Protect and resource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818388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Light-touch posts</a:t>
            </a:r>
            <a:endParaRPr lang="en-US" sz="1500" dirty="0"/>
          </a:p>
        </p:txBody>
      </p:sp>
      <p:sp>
        <p:nvSpPr>
          <p:cNvPr id="81" name="Text 79"/>
          <p:cNvSpPr txBox="1"/>
          <p:nvPr/>
        </p:nvSpPr>
        <p:spPr>
          <a:xfrm>
            <a:off x="8183880" y="4910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 posts  |  14% of personnel  |  6% of output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8183880" y="5184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Monitor; 4 Murree posts report nothing</a:t>
            </a:r>
            <a:endParaRPr lang="en-US" sz="1200" dirty="0"/>
          </a:p>
        </p:txBody>
      </p:sp>
      <p:sp>
        <p:nvSpPr>
          <p:cNvPr id="8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Output index = average of each post’s share of total arrests, narcotics (kg) and weapons recovered, Jan–Sep 2026 (illustrative, equal weights). Cut-offs are the average post. Y axis capped at 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Eight border posts with 171 personnel reported no arrests, seizures or recoveries in nine months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at zero-output border posts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of border-post perso"/>
          <p:cNvSpPr txBox="1"/>
          <p:nvPr/>
        </p:nvSpPr>
        <p:spPr>
          <a:xfrm>
            <a:off x="7589520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border-post personnel (171 of 355) and 28% of all personnel sit at these eight posts</a:t>
            </a:r>
            <a:endParaRPr lang="en-US" sz="1400" dirty="0"/>
          </a:p>
        </p:txBody>
      </p:sp>
      <p:sp>
        <p:nvSpPr>
          <p:cNvPr id="7" name="Stat border-post elite-fo"/>
          <p:cNvSpPr txBox="1"/>
          <p:nvPr/>
        </p:nvSpPr>
        <p:spPr>
          <a:xfrm>
            <a:off x="7589520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of 133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border-post elite-force personnel (59%) are at these posts, including 48 at the two D.G. Khan posts</a:t>
            </a:r>
            <a:endParaRPr lang="en-US" sz="1400" dirty="0"/>
          </a:p>
        </p:txBody>
      </p:sp>
      <p:sp>
        <p:nvSpPr>
          <p:cNvPr id="9" name="Caveat box"/>
          <p:cNvSpPr/>
          <p:nvPr/>
        </p:nvSpPr>
        <p:spPr>
          <a:xfrm>
            <a:off x="7589520" y="4572000"/>
            <a:ext cx="4050792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46177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 with care: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zero reported output may reflect deterrence or screening roles that arrests and seizures do not capture. Confirm each post’s mandate before redeploying.</a:t>
            </a:r>
            <a:endParaRPr lang="en-US" sz="13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Zero output = no arrests, narcotics, weapons or ammunition recovered in Q1, Q2 or Q3. Murree posts (Barian, Ghora Gali, Upper and Lower Dewal) have 5 personnel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Resources do not follow results: the three leanest high-yield posts have no vehicles, and body armour covers 62% of staff</a:t>
            </a:r>
            <a:endParaRPr lang="en-US" sz="2600" dirty="0"/>
          </a:p>
        </p:txBody>
      </p:sp>
      <p:sp>
        <p:nvSpPr>
          <p:cNvPr id="3" name="Stat at Sakhi Sarwar, Gha"/>
          <p:cNvSpPr txBox="1"/>
          <p:nvPr/>
        </p:nvSpPr>
        <p:spPr>
          <a:xfrm>
            <a:off x="5486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vehicles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Sakhi Sarwar, Ghazi Ghat and Taunsa Barrage: 29 personnel, 578 arrests (54% of total)</a:t>
            </a:r>
            <a:endParaRPr lang="en-US" sz="1400" dirty="0"/>
          </a:p>
        </p:txBody>
      </p:sp>
      <p:sp>
        <p:nvSpPr>
          <p:cNvPr id="5" name="Stat posts have a vehicle"/>
          <p:cNvSpPr txBox="1"/>
          <p:nvPr/>
        </p:nvSpPr>
        <p:spPr>
          <a:xfrm>
            <a:off x="548640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of 31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posts have a vehicle (18 vehicles and 12 bikes in total); no joint post has a bike</a:t>
            </a:r>
            <a:endParaRPr lang="en-US" sz="1400" dirty="0"/>
          </a:p>
        </p:txBody>
      </p:sp>
      <p:sp>
        <p:nvSpPr>
          <p:cNvPr id="7" name="Stat bullet-proof jackets"/>
          <p:cNvSpPr txBox="1"/>
          <p:nvPr/>
        </p:nvSpPr>
        <p:spPr>
          <a:xfrm>
            <a:off x="548640" y="4709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 for 620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bullet-proof jackets: 62% cover. Joint posts 52%, border posts 69%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Lowest jacket coverage, jackets per person, %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87452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Personnel in brackets. Shakardara (border) has 2 jackets for 20 personnel but 14,800 rounds of ammunition. Ghazi Ghat reports 2 of 4 CCTV cameras not functional.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 joint posts, police are 31% of the 863 personnel on site; two Rajanpur posts operate with police alone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at the 15 joint check posts, by agency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7665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personnel from other"/>
          <p:cNvSpPr txBox="1"/>
          <p:nvPr/>
        </p:nvSpPr>
        <p:spPr>
          <a:xfrm>
            <a:off x="7772400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423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personnel from other departments, against 265 police; Rangers alone outnumber police</a:t>
            </a:r>
            <a:endParaRPr lang="en-US" sz="1400" dirty="0"/>
          </a:p>
        </p:txBody>
      </p:sp>
      <p:sp>
        <p:nvSpPr>
          <p:cNvPr id="7" name="Stat Kot Tahir and Kot Mi"/>
          <p:cNvSpPr txBox="1"/>
          <p:nvPr/>
        </p:nvSpPr>
        <p:spPr>
          <a:xfrm>
            <a:off x="7772400" y="3154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posts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Kot Tahir and Kot Mithan (Rajanpur) have no other-agency staff; Kot Tahir still logged 62 arrests with 9 police</a:t>
            </a:r>
            <a:endParaRPr lang="en-US" sz="1400" dirty="0"/>
          </a:p>
        </p:txBody>
      </p:sp>
      <p:sp>
        <p:nvSpPr>
          <p:cNvPr id="9" name="Stat of police deployment"/>
          <p:cNvSpPr txBox="1"/>
          <p:nvPr/>
        </p:nvSpPr>
        <p:spPr>
          <a:xfrm>
            <a:off x="7772400" y="4937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623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police deployment (178 of 620) is elite force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Other-department deployment is reported only for joint posts. Police = SI, ASI, HC and FC/DC, elite and regular combined.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quality: sheet totals reconcile, but six issues limit how far the numbers can be trusted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matters / action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Wrong or swapped coordinates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9 posts: 3 joint (Kot Tahir, Kot Mithan, Taunsa) and 6 border (5 Mianwali, Bharmi Nawab)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Posts mis-plot on any map; correct before hotspot or route analysis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Post listed twice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Chashma: joint post 5 and border post 11 share location, staff and kit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25 personnel may be double counted; yet performance differs, so reconcile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Cameras unaccounted for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Attock: 9 cameras installed, none reported functional or faulty; 3 Murree posts blank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Uptime reads 95% (214 of 225) if blanks count as faulty, 99% if excluded; record status for 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“TOs” undefined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Half of all arrests (532 of 1,062); Ghazi Ghat reports 52, 52, 53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Define the term; validate the flat quarterly pattern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Seizures with no arrests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Attock: 280 kg narcotics (79%), zero arrests in all four posts, all quarters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Check whether arrests are booked elsewhere or recoveries are abandoned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Inconsistent coding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Boundary wall mixes 1, 0, “incomplete” and “-”; header asks for % complete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Standardise to % complete so progress can be tracked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126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Checks run on both sheets: every total row re-computed from post rows (all match); no hidden rows or columns; formulas present only in total rows.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Recommended actions: rebalance deployment toward results, close the seizure-to-arrest gap, fix the data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eight zero-output border posts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600200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171 personnel, 79 elite. Confirm each mandate; redeploy or set non-enforcement KPIs (screening, checks, deterrence).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the lean, high-yield joint posts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487168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Sakhi Sarwar, Ghazi Ghat, Taunsa Barrage, Kot Tahir: 38 personnel, 60% of arrests, no vehicles. Add vehicles, jackets, CCTV repair.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741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seizure-to-arrest gap in Attock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74136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280 kg seized, no arrests. Trace case registration; link recoveries to accused to build cases.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61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Q3 surge and the Q3 slumps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261104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on the 288 underlying run-rate, not 572. Probe Dajal (arrests 48→24) and Trimin (13 arrests and 45 kg in Q2, then 4 and 0 in Q3).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48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data before Q4 reporting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5148072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 9 coordinates, resolve Chashma, define TOs, log every camera, standardise wall status.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Recommendations are directional: they rest on reported counts only and need validation against post mandates and local context.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Baseline KPIs for Q4: eight measures that turn quarterly counts into comparable performance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965192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Joint posts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Border posts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 yield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Arrests per deployed person, 9 months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3.6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Narcotics yield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kg seized per deployed person, 9 months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1.26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0.06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Weapons yield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Weapons recovered per 100 personnel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12.5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5.6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Q3 arrests vs Q2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Quarter-on-quarter change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+172%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−6%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Q3 narcotics vs Q2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Quarter-on-quarter change in kg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−80%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−72%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Zero-output posts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Posts with no arrests, seizures or recoveries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0 of 15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8 of 16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Body-armour cover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Jackets per person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52%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69%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CCTV uptime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A64"/>
                          </a:solidFill>
                        </a:rPr>
                        <a:t>Functional cameras of installed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7A56"/>
                          </a:solidFill>
                        </a:rPr>
                        <a:t>91%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2E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Baselines computed from Jan–Sep 2026 data. Joint-post CCTV uptime is 91% of installed cameras; it would be 98% if the 9 Attock cameras with no status were excluded.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A: Joint check post scorecard, Q1–Q3 2026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46120"/>
                <a:gridCol w="685800"/>
                <a:gridCol w="914400"/>
                <a:gridCol w="640080"/>
                <a:gridCol w="640080"/>
                <a:gridCol w="1280160"/>
                <a:gridCol w="685800"/>
                <a:gridCol w="685800"/>
                <a:gridCol w="117043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Arrests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Narcotics kg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Weapons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Search Park Khushal Garh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9.6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Search Park Attock Khurd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71.0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152.2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24.3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Jinah Barrage PS Kalabagh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Bhutan Wala CPEC, Isa Khel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Remote Search Park Chashma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Railway Pull PS Kalabagh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Dajal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Trimin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22.0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45.0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Sakhi Sarwar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Ghazi Ghat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Rajanpur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Checkpost Kot Tahir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Rajanpur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Jhoka Checkpost Kot Mithan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Addu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Head Taunsa Barage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R.Y.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Check Post Kotsabzal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R.Y.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Check Post Daowala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265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198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539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96.8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197.2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38.9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Staff = elite plus regular police deployed. Arrests = POs, CAs, TOs and illegal Afghan nationals. Narcotics = chars, opium, heroin and ICE. Weapons = pistols, rifles, pump-action guns and K.Kove, nine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B: Border check post scorecard, Q1–Q3 2026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46120"/>
                <a:gridCol w="685800"/>
                <a:gridCol w="914400"/>
                <a:gridCol w="640080"/>
                <a:gridCol w="640080"/>
                <a:gridCol w="1280160"/>
                <a:gridCol w="685800"/>
                <a:gridCol w="685800"/>
                <a:gridCol w="117043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Arrests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Narcotics kg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Weapons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Jhari Kass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1.1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ACLC Kotkay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Barian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Ghora Gali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Upper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Murree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Lower Dewal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Shakardara Check 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Qabool Khel Check 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Daratang Check 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Kundal Check 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Chashma Check 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Bharmi Nawab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Pattan Kanial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Rohila Gharbi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Umar Farooq (Jhangi)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Khalid bin Waleed (Lakhani)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355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1.6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14.2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Staff = elite plus regular police deployed. Arrests = POs, CAs, TOs and illegal Afghan nationals. Narcotics = chars, opium, heroin and ICE. Weapons = pistols, rifles, pump-action guns and K.Kove, nine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ck Post Review">
  <a:themeElements>
    <a:clrScheme name="Check Post Review">
      <a:dk1>
        <a:srgbClr val="1B2620"/>
      </a:dk1>
      <a:lt1>
        <a:srgbClr val="FFFFFF"/>
      </a:lt1>
      <a:dk2>
        <a:srgbClr val="0B3D2E"/>
      </a:dk2>
      <a:lt2>
        <a:srgbClr val="EEF3F0"/>
      </a:lt2>
      <a:accent1>
        <a:srgbClr val="197A56"/>
      </a:accent1>
      <a:accent2>
        <a:srgbClr val="2EB67D"/>
      </a:accent2>
      <a:accent3>
        <a:srgbClr val="A8DBC3"/>
      </a:accent3>
      <a:accent4>
        <a:srgbClr val="5E6A64"/>
      </a:accent4>
      <a:accent5>
        <a:srgbClr val="C9D3CD"/>
      </a:accent5>
      <a:accent6>
        <a:srgbClr val="C8553D"/>
      </a:accent6>
      <a:hlink>
        <a:srgbClr val="197A56"/>
      </a:hlink>
      <a:folHlink>
        <a:srgbClr val="5E6A64"/>
      </a:folHlink>
    </a:clrScheme>
    <a:fontScheme name="Check Pos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performance of Joint and Border Check Posts, Q1-Q3 2026</dc:title>
  <dc:subject>PptxGenJS Presentation</dc:subject>
  <dc:creator>Analysis</dc:creator>
  <cp:lastModifiedBy>Analysis</cp:lastModifiedBy>
  <cp:revision>1</cp:revision>
  <dcterms:created xsi:type="dcterms:W3CDTF">2026-10-08T11:08:23Z</dcterms:created>
  <dcterms:modified xsi:type="dcterms:W3CDTF">2026-10-08T11:08:23Z</dcterms:modified>
</cp:coreProperties>
</file>