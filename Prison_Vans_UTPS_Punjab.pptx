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e10eade-1165-fe2a-b2c7-16725f779e29}">
          <p14:sldIdLst>
            <p14:sldId id="256"/>
            <p14:sldId id="257"/>
          </p14:sldIdLst>
        </p14:section>
        <p14:section name="Fleet &amp; Fuel" id="{0caa8afe-ae88-ecc2-6acb-b5c7fcea3fc3}">
          <p14:sldIdLst>
            <p14:sldId id="258"/>
            <p14:sldId id="259"/>
            <p14:sldId id="260"/>
            <p14:sldId id="261"/>
            <p14:sldId id="262"/>
          </p14:sldIdLst>
        </p14:section>
        <p14:section name="People &amp; Workload" id="{717de0f7-eca8-b207-aa31-8ca616e4b99d}">
          <p14:sldIdLst>
            <p14:sldId id="263"/>
            <p14:sldId id="264"/>
            <p14:sldId id="265"/>
            <p14:sldId id="266"/>
            <p14:sldId id="267"/>
          </p14:sldIdLst>
        </p14:section>
        <p14:section name="Close" id="{d51eb7d2-3645-f73c-94d5-3a983eba91f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E7CB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A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B7A8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Medium</c:v>
                </c:pt>
                <c:pt idx="1">
                  <c:v>Small</c:v>
                </c:pt>
                <c:pt idx="2">
                  <c:v>Large</c:v>
                </c:pt>
                <c:pt idx="3">
                  <c:v>Armoured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180</c:v>
                </c:pt>
                <c:pt idx="1">
                  <c:v>123</c:v>
                </c:pt>
                <c:pt idx="2">
                  <c:v>87</c:v>
                </c:pt>
                <c:pt idx="3">
                  <c:v>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Lahore</c:v>
                  </c:pt>
                  <c:pt idx="1">
                    <c:v>Faisalabad</c:v>
                  </c:pt>
                  <c:pt idx="2">
                    <c:v>Gujranwala</c:v>
                  </c:pt>
                  <c:pt idx="3">
                    <c:v>Gujrat</c:v>
                  </c:pt>
                  <c:pt idx="4">
                    <c:v>Sargodha</c:v>
                  </c:pt>
                  <c:pt idx="5">
                    <c:v>Multan</c:v>
                  </c:pt>
                  <c:pt idx="6">
                    <c:v>Bahawalpur</c:v>
                  </c:pt>
                  <c:pt idx="7">
                    <c:v>Rawalpindi</c:v>
                  </c:pt>
                  <c:pt idx="8">
                    <c:v>Attock</c:v>
                  </c:pt>
                  <c:pt idx="9">
                    <c:v>Sheikhupura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22</c:v>
                </c:pt>
                <c:pt idx="2">
                  <c:v>18</c:v>
                </c:pt>
                <c:pt idx="3">
                  <c:v>17</c:v>
                </c:pt>
                <c:pt idx="4">
                  <c:v>16</c:v>
                </c:pt>
                <c:pt idx="5">
                  <c:v>16</c:v>
                </c:pt>
                <c:pt idx="6">
                  <c:v>15</c:v>
                </c:pt>
                <c:pt idx="7">
                  <c:v>14</c:v>
                </c:pt>
                <c:pt idx="8">
                  <c:v>14</c:v>
                </c:pt>
                <c:pt idx="9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Jhang</c:v>
                  </c:pt>
                  <c:pt idx="1">
                    <c:v>Faisalabad</c:v>
                  </c:pt>
                  <c:pt idx="2">
                    <c:v>Rawalpindi</c:v>
                  </c:pt>
                  <c:pt idx="3">
                    <c:v>Bahawalpur</c:v>
                  </c:pt>
                  <c:pt idx="4">
                    <c:v>Gujrat</c:v>
                  </c:pt>
                  <c:pt idx="5">
                    <c:v>Kasur</c:v>
                  </c:pt>
                  <c:pt idx="6">
                    <c:v>Lahore</c:v>
                  </c:pt>
                  <c:pt idx="7">
                    <c:v>Okara</c:v>
                  </c:pt>
                  <c:pt idx="8">
                    <c:v>Sheikhupura</c:v>
                  </c:pt>
                  <c:pt idx="9">
                    <c:v>Multan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43.4</c:v>
                </c:pt>
                <c:pt idx="1">
                  <c:v>39.6</c:v>
                </c:pt>
                <c:pt idx="2">
                  <c:v>32</c:v>
                </c:pt>
                <c:pt idx="3">
                  <c:v>25.6</c:v>
                </c:pt>
                <c:pt idx="4">
                  <c:v>23.3</c:v>
                </c:pt>
                <c:pt idx="5">
                  <c:v>23</c:v>
                </c:pt>
                <c:pt idx="6">
                  <c:v>22.7</c:v>
                </c:pt>
                <c:pt idx="7">
                  <c:v>21.1</c:v>
                </c:pt>
                <c:pt idx="8">
                  <c:v>20.9</c:v>
                </c:pt>
                <c:pt idx="9">
                  <c:v>20.4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Multan</c:v>
                  </c:pt>
                  <c:pt idx="1">
                    <c:v>M.Garh</c:v>
                  </c:pt>
                  <c:pt idx="2">
                    <c:v>D.G.Khan</c:v>
                  </c:pt>
                  <c:pt idx="3">
                    <c:v>R.Y.Khan</c:v>
                  </c:pt>
                  <c:pt idx="4">
                    <c:v>Lahore</c:v>
                  </c:pt>
                  <c:pt idx="5">
                    <c:v>Chiniot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1.87</c:v>
                </c:pt>
                <c:pt idx="1">
                  <c:v>3.81</c:v>
                </c:pt>
                <c:pt idx="2">
                  <c:v>3.88</c:v>
                </c:pt>
                <c:pt idx="3">
                  <c:v>4.18</c:v>
                </c:pt>
                <c:pt idx="4">
                  <c:v>4.29</c:v>
                </c:pt>
                <c:pt idx="5">
                  <c:v>4.33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E7CB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A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B7A8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Transport / production</c:v>
                </c:pt>
                <c:pt idx="1">
                  <c:v>Static / office</c:v>
                </c:pt>
                <c:pt idx="2">
                  <c:v>Bakshi Khana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2104</c:v>
                </c:pt>
                <c:pt idx="1">
                  <c:v>921</c:v>
                </c:pt>
                <c:pt idx="2">
                  <c:v>668</c:v>
                </c:pt>
                <c:pt idx="3">
                  <c:v>168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Constable</c:v>
                  </c:pt>
                  <c:pt idx="1">
                    <c:v>HC</c:v>
                  </c:pt>
                  <c:pt idx="2">
                    <c:v>ASI</c:v>
                  </c:pt>
                  <c:pt idx="3">
                    <c:v>SI</c:v>
                  </c:pt>
                  <c:pt idx="4">
                    <c:v>IP</c:v>
                  </c:pt>
                  <c:pt idx="5">
                    <c:v>DSP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2865</c:v>
                </c:pt>
                <c:pt idx="1">
                  <c:v>323</c:v>
                </c:pt>
                <c:pt idx="2">
                  <c:v>318</c:v>
                </c:pt>
                <c:pt idx="3">
                  <c:v>253</c:v>
                </c:pt>
                <c:pt idx="4">
                  <c:v>90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Lahore</c:v>
                  </c:pt>
                  <c:pt idx="1">
                    <c:v>Faisalabad</c:v>
                  </c:pt>
                  <c:pt idx="2">
                    <c:v>Rawalpindi</c:v>
                  </c:pt>
                  <c:pt idx="3">
                    <c:v>Gujranwala</c:v>
                  </c:pt>
                  <c:pt idx="4">
                    <c:v>Sheikhupura</c:v>
                  </c:pt>
                  <c:pt idx="5">
                    <c:v>Multan</c:v>
                  </c:pt>
                  <c:pt idx="6">
                    <c:v>Kasur</c:v>
                  </c:pt>
                  <c:pt idx="7">
                    <c:v>Sargodha</c:v>
                  </c:pt>
                  <c:pt idx="8">
                    <c:v>Sahiwal</c:v>
                  </c:pt>
                  <c:pt idx="9">
                    <c:v>Hafizabad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173270</c:v>
                </c:pt>
                <c:pt idx="1">
                  <c:v>156051</c:v>
                </c:pt>
                <c:pt idx="2">
                  <c:v>140400</c:v>
                </c:pt>
                <c:pt idx="3">
                  <c:v>118261</c:v>
                </c:pt>
                <c:pt idx="4">
                  <c:v>62814</c:v>
                </c:pt>
                <c:pt idx="5">
                  <c:v>49245</c:v>
                </c:pt>
                <c:pt idx="6">
                  <c:v>47751</c:v>
                </c:pt>
                <c:pt idx="7">
                  <c:v>41857</c:v>
                </c:pt>
                <c:pt idx="8">
                  <c:v>35100</c:v>
                </c:pt>
                <c:pt idx="9">
                  <c:v>30846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Prisoners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Mon–Fri</c:v>
                </c:pt>
                <c:pt idx="1">
                  <c:v>Saturday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1059676</c:v>
                </c:pt>
                <c:pt idx="1">
                  <c:v>182454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Rawalpindi</c:v>
                  </c:pt>
                  <c:pt idx="1">
                    <c:v>Faisalabad</c:v>
                  </c:pt>
                  <c:pt idx="2">
                    <c:v>Lahore</c:v>
                  </c:pt>
                  <c:pt idx="3">
                    <c:v>Gujranwala</c:v>
                  </c:pt>
                  <c:pt idx="4">
                    <c:v>Sheikhupura</c:v>
                  </c:pt>
                  <c:pt idx="5">
                    <c:v>Hafizabad</c:v>
                  </c:pt>
                  <c:pt idx="6">
                    <c:v>Sahiwal</c:v>
                  </c:pt>
                  <c:pt idx="7">
                    <c:v>Kasur</c:v>
                  </c:pt>
                  <c:pt idx="8">
                    <c:v>Multan</c:v>
                  </c:pt>
                  <c:pt idx="9">
                    <c:v>Okara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10029</c:v>
                </c:pt>
                <c:pt idx="1">
                  <c:v>7093</c:v>
                </c:pt>
                <c:pt idx="2">
                  <c:v>6931</c:v>
                </c:pt>
                <c:pt idx="3">
                  <c:v>6570</c:v>
                </c:pt>
                <c:pt idx="4">
                  <c:v>5235</c:v>
                </c:pt>
                <c:pt idx="5">
                  <c:v>5141</c:v>
                </c:pt>
                <c:pt idx="6">
                  <c:v>4388</c:v>
                </c:pt>
                <c:pt idx="7">
                  <c:v>4341</c:v>
                </c:pt>
                <c:pt idx="8">
                  <c:v>3078</c:v>
                </c:pt>
                <c:pt idx="9">
                  <c:v>3041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Prison Vans UTPS data collection (district wise), final 6.10.2026. 39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figures are recomputed from the van-type rows (see data notes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Per-van distance = total km / vans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are sums of the Large/Medium/Small rows. Chiniot total row in the source overstates fuel; corrected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Multan: 108,036 km vs 57,780 litres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counts from Punjab Total row; Constables are 74% of all personnel.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Transportation of Under Trial Prisoners · Punjab · 1 Jan – 30 Sep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Prison Vans &amp; Production of Under Trial Prisoners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Punjab · District-wise review of fleet, fuel, personnel and escort duties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Period: 1 January – 30 September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Punjab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39 districts · 9 months · one fleet carrying the courts’ prisoner workload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214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prison vans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87 large · 180 medium · 123 small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81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214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</a:rPr>
              <a:t>km covered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</a:rPr>
              <a:t>24,386 km per van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81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613M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214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fuel cost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1,755K litres consumed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27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20,593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</a:rPr>
              <a:t>escort duties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</a:rPr>
              <a:t>performed in 9 months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127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1.24M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767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prisoners produced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 district courts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127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3,861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67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</a:rPr>
              <a:t>personnel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</a:rPr>
              <a:t>2,104 on transport duty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vans are almost half the fleet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390 vans; no armoured vehicles reported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37160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Medium · 180 (46%)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17,861 km per van over the period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46320" y="251460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Small · 123 (32%)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40,502 km per van, the hardest-worked class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46320" y="36576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3749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Large · 87 (22%)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15,102 km per van, mostly short runs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Lahore holds the largest fleet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Top 10 districts by number of prison vans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Top 10 = 43%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of all vans (169 of 390)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Smallest fleets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Murree has 2 vans; Chiniot has 4; Hafizabad, Jhelum, M.Garh, Kot Addu have 6 each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cost by van class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Large vans cost the most per km; small vans run the most kilometres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280160"/>
                <a:gridCol w="1188720"/>
                <a:gridCol w="13716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Litres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Fuel cost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Km / litre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 / km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Large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87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1,313,861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389,315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Rs 135.2M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3.4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Rs 103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180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3,215,047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755,099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Rs 264.2M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Rs 82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Small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123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4,981,745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611,017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Rs 214.0M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8.2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</a:rPr>
                        <a:t>Rs 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Punjab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390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9,510,653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1,755,431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Rs 613.4M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5.4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</a:rPr>
                        <a:t>Rs 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Medium vans are the most efficient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About 4.3 km per litre vs 3.4 for large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3840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Large vans cost most per km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Rs 103 per km vs Rs 43 for small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Jhang and Faisalabad lead fuel spend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Top 10 districts by fuel cost, Rs million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Rs 272M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spent by these 10 districts — 44% of Punjab total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B1"/>
                </a:solidFill>
              </a:rPr>
              <a:t>Jhang: most km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655K km, the highest mileage of any district, drives the top fuel bill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efficiency outliers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Lowest kilometres per litre, by district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Punjab average: 5.4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km per litre. Best: M.B.Din at 8.4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Multan: 1.9 km/L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Rs 189 per km, 2× the next worst. Mileage or fuel entry looks wrong — verify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workload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Personnel deployed and prisoners produced in courts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3,861 personnel, 54% on transport duty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Deployment by duty type and by rank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28016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 million prisoners produced in courts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Top 10 districts by prisoners transported / produced in district courts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47% in 4 districts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Lahore, Faisalabad, Rawalpindi and Gujranwala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B1"/>
                </a:solidFill>
              </a:rPr>
              <a:t>+43,148 inter-district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prisoners also moved across other districts (Khushab 11,247; M.Garh 5,712)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 Saturday escorts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No Sunday production reported in any district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371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632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85% Mon–Fri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1,059,676 prisoners; 14.7% on Saturdays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2514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2606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B1"/>
                </a:solidFill>
              </a:rPr>
              <a:t>20,593 escort duties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About 60 prisoners produced per duty on average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3657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Wazirabad: no data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Zero vans, personnel and duties reported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Rawalpindi’s fleet is most stretched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Prisoners produced per prison van, top 10 districts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2545"/>
                </a:solidFill>
              </a:rPr>
              <a:t>Punjab: 3,185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prisoners per van over 9 months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553D"/>
                </a:solidFill>
              </a:rPr>
              <a:t>Rawalpindi: 10,029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14 vans for 140,400 prisoners — over 3× the Punjab average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points to verify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F"/>
                </a:solidFill>
              </a:rPr>
              <a:t>Anomalies spotted in the source sheet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Chiniot fuel total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Total row shows 118,424 L / Rs 40.6M; van-class rows sum to 35,085 L / Rs 12.3M. Deck uses the corrected sums.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84248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Multan mileage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108,036 km on 57,780 L (1.9 km/L) — km under-reported or fuel over-reported.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42616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Escort duty counts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Kasur: 2 duties for 47,751 prisoners; Lahore: 125. Several districts report 0–4 duties.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00984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Khushab &amp; Kot Addu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Khushab shows 0 district-court prisoners but 11,247 inter-district; Kot Addu’s district and inter-district figures are identical.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959352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Missing / sums 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Wazirabad has no entries; HR rank totals sum to 3,859 vs 3,861 reported.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143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Four districts carry 47% of the load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Lahore, Faisalabad, Rawalpindi and Gujranwala produce most prisoners; Rawalpindi runs 3× the average per van.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11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Fuel spend follows mileage, not fleet size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Jhang tops fuel cost; Multan and a few others need km / fuel reconciliation.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Transport is the core duty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54% of 3,861 personnel are on production duty; 24% on static / office roles.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490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Fix the data first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Five anomalies on the previous slide should be confirmed before targets are set.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son Escort">
  <a:themeElements>
    <a:clrScheme name="Prison Escort">
      <a:dk1>
        <a:srgbClr val="1B1B1B"/>
      </a:dk1>
      <a:lt1>
        <a:srgbClr val="FFFFFF"/>
      </a:lt1>
      <a:dk2>
        <a:srgbClr val="0B2545"/>
      </a:dk2>
      <a:lt2>
        <a:srgbClr val="EEF2F7"/>
      </a:lt2>
      <a:accent1>
        <a:srgbClr val="0B2545"/>
      </a:accent1>
      <a:accent2>
        <a:srgbClr val="F2A900"/>
      </a:accent2>
      <a:accent3>
        <a:srgbClr val="3E7CB1"/>
      </a:accent3>
      <a:accent4>
        <a:srgbClr val="C8553D"/>
      </a:accent4>
      <a:accent5>
        <a:srgbClr val="6B7A8F"/>
      </a:accent5>
      <a:accent6>
        <a:srgbClr val="2A9D8F"/>
      </a:accent6>
      <a:hlink>
        <a:srgbClr val="3E7CB1"/>
      </a:hlink>
      <a:folHlink>
        <a:srgbClr val="6B7A8F"/>
      </a:folHlink>
    </a:clrScheme>
    <a:fontScheme name="Prison Esco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Prison Vans &amp; UTP Production – Punjab</dc:title>
  <dc:subject>PptxGenJS Presentation</dc:subject>
  <dc:creator>PptxGenJS</dc:creator>
  <cp:lastModifiedBy>PptxGenJS</cp:lastModifiedBy>
  <cp:revision>1</cp:revision>
  <dcterms:created xsi:type="dcterms:W3CDTF">2026-10-07T13:01:56Z</dcterms:created>
  <dcterms:modified xsi:type="dcterms:W3CDTF">2026-10-07T13:01:56Z</dcterms:modified>
</cp:coreProperties>
</file>