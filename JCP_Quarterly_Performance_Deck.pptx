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755e85d-079a-681c-6da1-b67f674d13d4}">
          <p14:sldIdLst>
            <p14:sldId id="256"/>
            <p14:sldId id="257"/>
            <p14:sldId id="258"/>
          </p14:sldIdLst>
        </p14:section>
        <p14:section name="Trends" id="{17fda51b-9086-9e98-b1c1-fd393c310f0c}">
          <p14:sldIdLst>
            <p14:sldId id="259"/>
            <p14:sldId id="260"/>
            <p14:sldId id="261"/>
            <p14:sldId id="262"/>
          </p14:sldIdLst>
        </p14:section>
        <p14:section name="Deployment versus results" id="{8b0672b3-ae67-f68b-921f-207f77959d79}">
          <p14:sldIdLst>
            <p14:sldId id="263"/>
            <p14:sldId id="264"/>
            <p14:sldId id="265"/>
            <p14:sldId id="266"/>
            <p14:sldId id="267"/>
          </p14:sldIdLst>
        </p14:section>
        <p14:section name="Resources and data" id="{e6da8519-a81b-71bd-5b2f-c701db0585f3}">
          <p14:sldIdLst>
            <p14:sldId id="268"/>
            <p14:sldId id="269"/>
            <p14:sldId id="270"/>
          </p14:sldIdLst>
        </p14:section>
        <p14:section name="Next steps" id="{426fb34a-2a6b-3f01-94ff-686bbad78dc7}">
          <p14:sldIdLst>
            <p14:sldId id="271"/>
            <p14:sldId id="272"/>
          </p14:sldIdLst>
        </p14:section>
        <p14:section name="Appendix" id="{15379ed7-b012-dd67-d7f5-05387d91fa54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Proclaimed offenders (PO)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(218)</c:v>
                  </c:pt>
                  <c:pt idx="1">
                    <c:v>Q2  (198)</c:v>
                  </c:pt>
                  <c:pt idx="2">
                    <c:v>Q3  (539)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41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Court absconders (CA)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(218)</c:v>
                  </c:pt>
                  <c:pt idx="1">
                    <c:v>Q2  (198)</c:v>
                  </c:pt>
                  <c:pt idx="2">
                    <c:v>Q3  (539)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TOs</c:v>
                </c:pt>
              </c:strCache>
            </c:strRef>
          </c:tx>
          <c:spPr>
            <a:solidFill>
              <a:srgbClr val="A8DB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(218)</c:v>
                  </c:pt>
                  <c:pt idx="1">
                    <c:v>Q2  (198)</c:v>
                  </c:pt>
                  <c:pt idx="2">
                    <c:v>Q3  (539)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137</c:v>
                </c:pt>
                <c:pt idx="1">
                  <c:v>133</c:v>
                </c:pt>
                <c:pt idx="2">
                  <c:v>213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Illegal Afghan nationals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(218)</c:v>
                  </c:pt>
                  <c:pt idx="1">
                    <c:v>Q2  (198)</c:v>
                  </c:pt>
                  <c:pt idx="2">
                    <c:v>Q3  (539)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42</c:v>
                </c:pt>
                <c:pt idx="1">
                  <c:v>10</c:v>
                </c:pt>
                <c:pt idx="2">
                  <c:v>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(97 kg)</c:v>
                  </c:pt>
                  <c:pt idx="1">
                    <c:v>Q2  (197 kg)</c:v>
                  </c:pt>
                  <c:pt idx="2">
                    <c:v>Q3  (39 kg)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</c:v>
                </c:pt>
                <c:pt idx="1">
                  <c:v>183.2</c:v>
                </c:pt>
                <c:pt idx="2">
                  <c:v>35.8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(97 kg)</c:v>
                  </c:pt>
                  <c:pt idx="1">
                    <c:v>Q2  (197 kg)</c:v>
                  </c:pt>
                  <c:pt idx="2">
                    <c:v>Q3  (39 kg)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3.5</c:v>
                </c:pt>
                <c:pt idx="1">
                  <c:v>14</c:v>
                </c:pt>
                <c:pt idx="2">
                  <c:v>1.8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Heroin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(97 kg)</c:v>
                  </c:pt>
                  <c:pt idx="1">
                    <c:v>Q2  (197 kg)</c:v>
                  </c:pt>
                  <c:pt idx="2">
                    <c:v>Q3  (39 kg)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2.2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Opium</c:v>
                </c:pt>
              </c:strCache>
            </c:strRef>
          </c:tx>
          <c:spPr>
            <a:solidFill>
              <a:srgbClr val="A8DB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(97 kg)</c:v>
                  </c:pt>
                  <c:pt idx="1">
                    <c:v>Q2  (197 kg)</c:v>
                  </c:pt>
                  <c:pt idx="2">
                    <c:v>Q3  (39 kg)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Q2 to Q3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Illegal Afghan nationals</c:v>
                  </c:pt>
                  <c:pt idx="1">
                    <c:v>TOs</c:v>
                  </c:pt>
                  <c:pt idx="2">
                    <c:v>Court absconders (CA)</c:v>
                  </c:pt>
                  <c:pt idx="3">
                    <c:v>Proclaimed offenders (PO)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274</c:v>
                </c:pt>
                <c:pt idx="1">
                  <c:v>80</c:v>
                </c:pt>
                <c:pt idx="2">
                  <c:v>-2</c:v>
                </c:pt>
                <c:pt idx="3">
                  <c:v>-11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-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Attock Khurd</c:v>
                  </c:pt>
                  <c:pt idx="1">
                    <c:v>Trimin</c:v>
                  </c:pt>
                  <c:pt idx="2">
                    <c:v>Khushal Garh</c:v>
                  </c:pt>
                  <c:pt idx="3">
                    <c:v>Dajal</c:v>
                  </c:pt>
                  <c:pt idx="4">
                    <c:v>Kotsabzal</c:v>
                  </c:pt>
                  <c:pt idx="5">
                    <c:v>Bhutan Wala CPEC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Attock Khurd</c:v>
                  </c:pt>
                  <c:pt idx="1">
                    <c:v>Trimin</c:v>
                  </c:pt>
                  <c:pt idx="2">
                    <c:v>Khushal Garh</c:v>
                  </c:pt>
                  <c:pt idx="3">
                    <c:v>Dajal</c:v>
                  </c:pt>
                  <c:pt idx="4">
                    <c:v>Kotsabzal</c:v>
                  </c:pt>
                  <c:pt idx="5">
                    <c:v>Bhutan Wala CPEC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Attock Khurd</c:v>
                  </c:pt>
                  <c:pt idx="1">
                    <c:v>Trimin</c:v>
                  </c:pt>
                  <c:pt idx="2">
                    <c:v>Khushal Garh</c:v>
                  </c:pt>
                  <c:pt idx="3">
                    <c:v>Dajal</c:v>
                  </c:pt>
                  <c:pt idx="4">
                    <c:v>Kotsabzal</c:v>
                  </c:pt>
                  <c:pt idx="5">
                    <c:v>Bhutan Wala CPEC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Sakhi Sarwar (15)</c:v>
                  </c:pt>
                  <c:pt idx="1">
                    <c:v>Ghazi Ghat (9)</c:v>
                  </c:pt>
                  <c:pt idx="2">
                    <c:v>Dajal (39)</c:v>
                  </c:pt>
                  <c:pt idx="3">
                    <c:v>Taunsa Barrage (5)</c:v>
                  </c:pt>
                  <c:pt idx="4">
                    <c:v>Kot Tahir (9)</c:v>
                  </c:pt>
                  <c:pt idx="5">
                    <c:v>Daowala (20)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256</c:v>
                </c:pt>
                <c:pt idx="1">
                  <c:v>216</c:v>
                </c:pt>
                <c:pt idx="2">
                  <c:v>115</c:v>
                </c:pt>
                <c:pt idx="3">
                  <c:v>106</c:v>
                </c:pt>
                <c:pt idx="4">
                  <c:v>62</c:v>
                </c:pt>
                <c:pt idx="5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Narcotics kg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Attock Khurd (21)</c:v>
                  </c:pt>
                  <c:pt idx="1">
                    <c:v>Trimin (26)</c:v>
                  </c:pt>
                  <c:pt idx="2">
                    <c:v>Khushal Garh (23)</c:v>
                  </c:pt>
                  <c:pt idx="3">
                    <c:v>Dajal (39)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247.4</c:v>
                </c:pt>
                <c:pt idx="1">
                  <c:v>67</c:v>
                </c:pt>
                <c:pt idx="2">
                  <c:v>13.4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Attock Khurd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[&gt;=8]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152.2</c:v>
                </c:pt>
                <c:pt idx="2">
                  <c:v>24.3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Trimin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[&gt;=8]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45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Khushal Garh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[&gt;=8]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3.8</c:v>
                </c:pt>
                <c:pt idx="1">
                  <c:v>0</c:v>
                </c:pt>
                <c:pt idx="2">
                  <c:v>9.6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All other posts</c:v>
                </c:pt>
              </c:strCache>
            </c:strRef>
          </c:tx>
          <c:spPr>
            <a:solidFill>
              <a:srgbClr val="A8DBC3"/>
            </a:solidFill>
            <a:effectLst/>
          </c:spPr>
          <c:invertIfNegative val="0"/>
          <c:dLbls>
            <c:numFmt formatCode="[&gt;=8]0;&quot;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dLbls>
          <c:numFmt formatCode="[&gt;=8]0;&quot;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C9D3C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R.Y. Khan</c:v>
                  </c:pt>
                  <c:pt idx="3">
                    <c:v>Attock</c:v>
                  </c:pt>
                  <c:pt idx="4">
                    <c:v>Bhakkar</c:v>
                  </c:pt>
                  <c:pt idx="5">
                    <c:v>Rajanpur</c:v>
                  </c:pt>
                  <c:pt idx="6">
                    <c:v>Kot Addu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19</c:v>
                </c:pt>
                <c:pt idx="2">
                  <c:v>17</c:v>
                </c:pt>
                <c:pt idx="3">
                  <c:v>17</c:v>
                </c:pt>
                <c:pt idx="4">
                  <c:v>15</c:v>
                </c:pt>
                <c:pt idx="5">
                  <c:v>8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Arrests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R.Y. Khan</c:v>
                  </c:pt>
                  <c:pt idx="3">
                    <c:v>Attock</c:v>
                  </c:pt>
                  <c:pt idx="4">
                    <c:v>Bhakkar</c:v>
                  </c:pt>
                  <c:pt idx="5">
                    <c:v>Rajanpur</c:v>
                  </c:pt>
                  <c:pt idx="6">
                    <c:v>Kot Addu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</c:v>
                </c:pt>
                <c:pt idx="1">
                  <c:v>53</c:v>
                </c:pt>
                <c:pt idx="2">
                  <c:v>10</c:v>
                </c:pt>
                <c:pt idx="3">
                  <c:v>0</c:v>
                </c:pt>
                <c:pt idx="4">
                  <c:v>12</c:v>
                </c:pt>
                <c:pt idx="5">
                  <c:v>8</c:v>
                </c:pt>
                <c:pt idx="6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Narcotics (kg)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Mianwali</c:v>
                  </c:pt>
                  <c:pt idx="1">
                    <c:v>D.G. Khan</c:v>
                  </c:pt>
                  <c:pt idx="2">
                    <c:v>R.Y. Khan</c:v>
                  </c:pt>
                  <c:pt idx="3">
                    <c:v>Attock</c:v>
                  </c:pt>
                  <c:pt idx="4">
                    <c:v>Bhakkar</c:v>
                  </c:pt>
                  <c:pt idx="5">
                    <c:v>Rajanpur</c:v>
                  </c:pt>
                  <c:pt idx="6">
                    <c:v>Kot Addu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20</c:v>
                </c:pt>
                <c:pt idx="2">
                  <c:v>0</c:v>
                </c:pt>
                <c:pt idx="3">
                  <c:v>78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Arrests per person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Ghazi Ghat</c:v>
                  </c:pt>
                  <c:pt idx="1">
                    <c:v>Taunsa Barrage</c:v>
                  </c:pt>
                  <c:pt idx="2">
                    <c:v>Sakhi Sarwar</c:v>
                  </c:pt>
                  <c:pt idx="3">
                    <c:v>Kot Tahir</c:v>
                  </c:pt>
                  <c:pt idx="4">
                    <c:v>Railway Pull</c:v>
                  </c:pt>
                  <c:pt idx="5">
                    <c:v>Daowala</c:v>
                  </c:pt>
                  <c:pt idx="6">
                    <c:v>Dajal</c:v>
                  </c:pt>
                  <c:pt idx="7">
                    <c:v>Trimin</c:v>
                  </c:pt>
                  <c:pt idx="8">
                    <c:v>Kot Mithan</c:v>
                  </c:pt>
                  <c:pt idx="9">
                    <c:v>Kotsabzal</c:v>
                  </c:pt>
                  <c:pt idx="10">
                    <c:v>Jinah Barrage</c:v>
                  </c:pt>
                  <c:pt idx="11">
                    <c:v>Remote Chashma</c:v>
                  </c:pt>
                  <c:pt idx="12">
                    <c:v>Bhutan Wala CPEC</c:v>
                  </c:pt>
                  <c:pt idx="13">
                    <c:v>Khushal Garh</c:v>
                  </c:pt>
                  <c:pt idx="14">
                    <c:v>Attock Khurd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21.2</c:v>
                </c:pt>
                <c:pt idx="2">
                  <c:v>17.1</c:v>
                </c:pt>
                <c:pt idx="3">
                  <c:v>6.9</c:v>
                </c:pt>
                <c:pt idx="4">
                  <c:v>4.2</c:v>
                </c:pt>
                <c:pt idx="5">
                  <c:v>3</c:v>
                </c:pt>
                <c:pt idx="6">
                  <c:v>2.9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</c:v>
                </c:pt>
                <c:pt idx="11">
                  <c:v>1</c:v>
                </c:pt>
                <c:pt idx="12">
                  <c:v>0.3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 per point-shift</c:v>
                </c:pt>
              </c:strCache>
            </c:strRef>
          </c:tx>
          <c:spPr>
            <a:solidFill>
              <a:srgbClr val="C9D3CD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Ghazi Ghat</c:v>
                  </c:pt>
                  <c:pt idx="1">
                    <c:v>Taunsa Barrage</c:v>
                  </c:pt>
                  <c:pt idx="2">
                    <c:v>Sakhi Sarwar</c:v>
                  </c:pt>
                  <c:pt idx="3">
                    <c:v>Kot Tahir</c:v>
                  </c:pt>
                  <c:pt idx="4">
                    <c:v>Railway Pull</c:v>
                  </c:pt>
                  <c:pt idx="5">
                    <c:v>Daowala</c:v>
                  </c:pt>
                  <c:pt idx="6">
                    <c:v>Dajal</c:v>
                  </c:pt>
                  <c:pt idx="7">
                    <c:v>Trimin</c:v>
                  </c:pt>
                  <c:pt idx="8">
                    <c:v>Kot Mithan</c:v>
                  </c:pt>
                  <c:pt idx="9">
                    <c:v>Kotsabzal</c:v>
                  </c:pt>
                  <c:pt idx="10">
                    <c:v>Jinah Barrage</c:v>
                  </c:pt>
                  <c:pt idx="11">
                    <c:v>Remote Chashma</c:v>
                  </c:pt>
                  <c:pt idx="12">
                    <c:v>Bhutan Wala CPEC</c:v>
                  </c:pt>
                  <c:pt idx="13">
                    <c:v>Khushal Garh</c:v>
                  </c:pt>
                  <c:pt idx="14">
                    <c:v>Attock Khurd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2.5</c:v>
                </c:pt>
                <c:pt idx="2">
                  <c:v>2.5</c:v>
                </c:pt>
                <c:pt idx="3">
                  <c:v>1.8</c:v>
                </c:pt>
                <c:pt idx="4">
                  <c:v>0</c:v>
                </c:pt>
                <c:pt idx="5">
                  <c:v>10</c:v>
                </c:pt>
                <c:pt idx="6">
                  <c:v>1.4</c:v>
                </c:pt>
                <c:pt idx="7">
                  <c:v>0.8</c:v>
                </c:pt>
                <c:pt idx="8">
                  <c:v>3.7</c:v>
                </c:pt>
                <c:pt idx="9">
                  <c:v>3.7</c:v>
                </c:pt>
                <c:pt idx="10">
                  <c:v>2.5</c:v>
                </c:pt>
                <c:pt idx="11">
                  <c:v>12.5</c:v>
                </c:pt>
                <c:pt idx="12">
                  <c:v>1.7</c:v>
                </c:pt>
                <c:pt idx="13">
                  <c:v>3.8</c:v>
                </c:pt>
                <c:pt idx="14">
                  <c:v>3.5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11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Dajal</c:v>
                  </c:pt>
                  <c:pt idx="1">
                    <c:v>Trimin</c:v>
                  </c:pt>
                  <c:pt idx="2">
                    <c:v>Taunsa Barrage</c:v>
                  </c:pt>
                  <c:pt idx="3">
                    <c:v>Khushal Garh</c:v>
                  </c:pt>
                  <c:pt idx="4">
                    <c:v>Attock Khurd</c:v>
                  </c:pt>
                  <c:pt idx="5">
                    <c:v>Sakhi Sarwar</c:v>
                  </c:pt>
                  <c:pt idx="6">
                    <c:v>Jinah Barrage</c:v>
                  </c:pt>
                  <c:pt idx="7">
                    <c:v>Remote Chashma</c:v>
                  </c:pt>
                  <c:pt idx="8">
                    <c:v>Ghazi Ghat</c:v>
                  </c:pt>
                  <c:pt idx="9">
                    <c:v>Kotsabzal</c:v>
                  </c:pt>
                  <c:pt idx="10">
                    <c:v>Railway Pull</c:v>
                  </c:pt>
                  <c:pt idx="11">
                    <c:v>Bhutan Wala CPEC</c:v>
                  </c:pt>
                  <c:pt idx="12">
                    <c:v>Daowala</c:v>
                  </c:pt>
                  <c:pt idx="13">
                    <c:v>Kot Mithan</c:v>
                  </c:pt>
                  <c:pt idx="14">
                    <c:v>Kot Tahir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39</c:v>
                </c:pt>
                <c:pt idx="1">
                  <c:v>26</c:v>
                </c:pt>
                <c:pt idx="2">
                  <c:v>5</c:v>
                </c:pt>
                <c:pt idx="3">
                  <c:v>23</c:v>
                </c:pt>
                <c:pt idx="4">
                  <c:v>21</c:v>
                </c:pt>
                <c:pt idx="5">
                  <c:v>15</c:v>
                </c:pt>
                <c:pt idx="6">
                  <c:v>10</c:v>
                </c:pt>
                <c:pt idx="7">
                  <c:v>25</c:v>
                </c:pt>
                <c:pt idx="8">
                  <c:v>9</c:v>
                </c:pt>
                <c:pt idx="9">
                  <c:v>26</c:v>
                </c:pt>
                <c:pt idx="10">
                  <c:v>6</c:v>
                </c:pt>
                <c:pt idx="11">
                  <c:v>20</c:v>
                </c:pt>
                <c:pt idx="12">
                  <c:v>20</c:v>
                </c:pt>
                <c:pt idx="13">
                  <c:v>11</c:v>
                </c:pt>
                <c:pt idx="1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Rangers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Dajal</c:v>
                  </c:pt>
                  <c:pt idx="1">
                    <c:v>Trimin</c:v>
                  </c:pt>
                  <c:pt idx="2">
                    <c:v>Taunsa Barrage</c:v>
                  </c:pt>
                  <c:pt idx="3">
                    <c:v>Khushal Garh</c:v>
                  </c:pt>
                  <c:pt idx="4">
                    <c:v>Attock Khurd</c:v>
                  </c:pt>
                  <c:pt idx="5">
                    <c:v>Sakhi Sarwar</c:v>
                  </c:pt>
                  <c:pt idx="6">
                    <c:v>Jinah Barrage</c:v>
                  </c:pt>
                  <c:pt idx="7">
                    <c:v>Remote Chashma</c:v>
                  </c:pt>
                  <c:pt idx="8">
                    <c:v>Ghazi Ghat</c:v>
                  </c:pt>
                  <c:pt idx="9">
                    <c:v>Kotsabzal</c:v>
                  </c:pt>
                  <c:pt idx="10">
                    <c:v>Railway Pull</c:v>
                  </c:pt>
                  <c:pt idx="11">
                    <c:v>Bhutan Wala CPEC</c:v>
                  </c:pt>
                  <c:pt idx="12">
                    <c:v>Daowala</c:v>
                  </c:pt>
                  <c:pt idx="13">
                    <c:v>Kot Mithan</c:v>
                  </c:pt>
                  <c:pt idx="14">
                    <c:v>Kot Tahir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16</c:v>
                </c:pt>
                <c:pt idx="1">
                  <c:v>30</c:v>
                </c:pt>
                <c:pt idx="2">
                  <c:v>25</c:v>
                </c:pt>
                <c:pt idx="3">
                  <c:v>40</c:v>
                </c:pt>
                <c:pt idx="4">
                  <c:v>40</c:v>
                </c:pt>
                <c:pt idx="5">
                  <c:v>30</c:v>
                </c:pt>
                <c:pt idx="6">
                  <c:v>18</c:v>
                </c:pt>
                <c:pt idx="7">
                  <c:v>12</c:v>
                </c:pt>
                <c:pt idx="8">
                  <c:v>20</c:v>
                </c:pt>
                <c:pt idx="9">
                  <c:v>10</c:v>
                </c:pt>
                <c:pt idx="10">
                  <c:v>4</c:v>
                </c:pt>
                <c:pt idx="11">
                  <c:v>12</c:v>
                </c:pt>
                <c:pt idx="12">
                  <c:v>13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Customs</c:v>
                </c:pt>
              </c:strCache>
            </c:strRef>
          </c:tx>
          <c:spPr>
            <a:solidFill>
              <a:srgbClr val="5E6A64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Dajal</c:v>
                  </c:pt>
                  <c:pt idx="1">
                    <c:v>Trimin</c:v>
                  </c:pt>
                  <c:pt idx="2">
                    <c:v>Taunsa Barrage</c:v>
                  </c:pt>
                  <c:pt idx="3">
                    <c:v>Khushal Garh</c:v>
                  </c:pt>
                  <c:pt idx="4">
                    <c:v>Attock Khurd</c:v>
                  </c:pt>
                  <c:pt idx="5">
                    <c:v>Sakhi Sarwar</c:v>
                  </c:pt>
                  <c:pt idx="6">
                    <c:v>Jinah Barrage</c:v>
                  </c:pt>
                  <c:pt idx="7">
                    <c:v>Remote Chashma</c:v>
                  </c:pt>
                  <c:pt idx="8">
                    <c:v>Ghazi Ghat</c:v>
                  </c:pt>
                  <c:pt idx="9">
                    <c:v>Kotsabzal</c:v>
                  </c:pt>
                  <c:pt idx="10">
                    <c:v>Railway Pull</c:v>
                  </c:pt>
                  <c:pt idx="11">
                    <c:v>Bhutan Wala CPEC</c:v>
                  </c:pt>
                  <c:pt idx="12">
                    <c:v>Daowala</c:v>
                  </c:pt>
                  <c:pt idx="13">
                    <c:v>Kot Mithan</c:v>
                  </c:pt>
                  <c:pt idx="14">
                    <c:v>Kot Tahir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43</c:v>
                </c:pt>
                <c:pt idx="1">
                  <c:v>3</c:v>
                </c:pt>
                <c:pt idx="2">
                  <c:v>34</c:v>
                </c:pt>
                <c:pt idx="3">
                  <c:v>4</c:v>
                </c:pt>
                <c:pt idx="4">
                  <c:v>4</c:v>
                </c:pt>
                <c:pt idx="5">
                  <c:v>24</c:v>
                </c:pt>
                <c:pt idx="6">
                  <c:v>32</c:v>
                </c:pt>
                <c:pt idx="7">
                  <c:v>15</c:v>
                </c:pt>
                <c:pt idx="8">
                  <c:v>28</c:v>
                </c:pt>
                <c:pt idx="9">
                  <c:v>0</c:v>
                </c:pt>
                <c:pt idx="10">
                  <c:v>35</c:v>
                </c:pt>
                <c:pt idx="11">
                  <c:v>10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departments</c:v>
                </c:pt>
              </c:strCache>
            </c:strRef>
          </c:tx>
          <c:spPr>
            <a:solidFill>
              <a:srgbClr val="8A958F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Dajal</c:v>
                  </c:pt>
                  <c:pt idx="1">
                    <c:v>Trimin</c:v>
                  </c:pt>
                  <c:pt idx="2">
                    <c:v>Taunsa Barrage</c:v>
                  </c:pt>
                  <c:pt idx="3">
                    <c:v>Khushal Garh</c:v>
                  </c:pt>
                  <c:pt idx="4">
                    <c:v>Attock Khurd</c:v>
                  </c:pt>
                  <c:pt idx="5">
                    <c:v>Sakhi Sarwar</c:v>
                  </c:pt>
                  <c:pt idx="6">
                    <c:v>Jinah Barrage</c:v>
                  </c:pt>
                  <c:pt idx="7">
                    <c:v>Remote Chashma</c:v>
                  </c:pt>
                  <c:pt idx="8">
                    <c:v>Ghazi Ghat</c:v>
                  </c:pt>
                  <c:pt idx="9">
                    <c:v>Kotsabzal</c:v>
                  </c:pt>
                  <c:pt idx="10">
                    <c:v>Railway Pull</c:v>
                  </c:pt>
                  <c:pt idx="11">
                    <c:v>Bhutan Wala CPEC</c:v>
                  </c:pt>
                  <c:pt idx="12">
                    <c:v>Daowala</c:v>
                  </c:pt>
                  <c:pt idx="13">
                    <c:v>Kot Mithan</c:v>
                  </c:pt>
                  <c:pt idx="14">
                    <c:v>Kot Tahir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29</c:v>
                </c:pt>
                <c:pt idx="1">
                  <c:v>18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10</c:v>
                </c:pt>
                <c:pt idx="8">
                  <c:v>0</c:v>
                </c:pt>
                <c:pt idx="9">
                  <c:v>13</c:v>
                </c:pt>
                <c:pt idx="10">
                  <c:v>0</c:v>
                </c:pt>
                <c:pt idx="11">
                  <c:v>2</c:v>
                </c:pt>
                <c:pt idx="12">
                  <c:v>5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6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Jackets per person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6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Khushal Garh (23)</c:v>
                  </c:pt>
                  <c:pt idx="1">
                    <c:v>Kotsabzal (26)</c:v>
                  </c:pt>
                  <c:pt idx="2">
                    <c:v>Railway Pull (6)</c:v>
                  </c:pt>
                  <c:pt idx="3">
                    <c:v>Kot Mithan (11)</c:v>
                  </c:pt>
                  <c:pt idx="4">
                    <c:v>Jinah Barrage (10)</c:v>
                  </c:pt>
                  <c:pt idx="5">
                    <c:v>Taunsa Barrage (5)</c:v>
                  </c:pt>
                  <c:pt idx="6">
                    <c:v>Kot Tahir (9)</c:v>
                  </c:pt>
                  <c:pt idx="7">
                    <c:v>Attock Khurd (21)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</c:v>
                </c:pt>
                <c:pt idx="1">
                  <c:v>27</c:v>
                </c:pt>
                <c:pt idx="2">
                  <c:v>33</c:v>
                </c:pt>
                <c:pt idx="3">
                  <c:v>36</c:v>
                </c:pt>
                <c:pt idx="4">
                  <c:v>40</c:v>
                </c:pt>
                <c:pt idx="5">
                  <c:v>40</c:v>
                </c:pt>
                <c:pt idx="6">
                  <c:v>44</c:v>
                </c:pt>
                <c:pt idx="7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6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6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quarterly_performanc_of_JCP__BCP.xlsx, sheet 'Joint Check Posts'. Q1 = 1 Jan-31 Mar, Q2 = 1 Apr-30 Jun, Q3 = 1 Jul-30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index within JCP: share of the 955 arrests, 333 kg narcotics and 33 weapons, averaged. Average post = 17.7 personnel, index 6.7. Daowala and Kotsabzal fall in 'heavy' because the index is dominated by narcotics; they do make 91 arrests.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Joint Check Posts  |  Performance review, Q1–Q3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Joint Check Posts: performance review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January–September 2026  |  15 posts in 7 districts, three quarters of results, with insights and recommendations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Executive summary: Q3 arrests surged on a southern crackdown while narcotics sit in just two posts</a:t>
            </a:r>
            <a:endParaRPr lang="en-US" sz="2600" dirty="0"/>
          </a:p>
        </p:txBody>
      </p:sp>
      <p:sp>
        <p:nvSpPr>
          <p:cNvPr id="3" name="Marker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Arrests surged in Q3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600200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198 → 539 (+172%). Four-fifths of the rise is Afghan nationals, 283 of 284 at two D.G. Khan posts.</a:t>
            </a:r>
            <a:endParaRPr lang="en-US" sz="1400" dirty="0"/>
          </a:p>
        </p:txBody>
      </p:sp>
      <p:sp>
        <p:nvSpPr>
          <p:cNvPr id="7" name="Marker 2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871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Narcotics sit in two posts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487168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333 kg in nine months: Attock Khurd 74%, Trimin 20%. Q3 fell 80% on Q2, and the Attock posts report no arrests.</a:t>
            </a:r>
            <a:endParaRPr lang="en-US" sz="1400" dirty="0"/>
          </a:p>
        </p:txBody>
      </p:sp>
      <p:sp>
        <p:nvSpPr>
          <p:cNvPr id="11" name="Marker 3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741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operating models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374136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 elite-force posts (154 personnel) hold 99.7% of narcotics; nine regular posts (111 personnel) make 76% of arrests.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61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per person varies widely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4261104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Ghazi Ghat, Taunsa Barrage and Sakhi Sarwar average 17–24 arrests per person; four posts average under one.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480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kit and data gaps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5148072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vehicles, no bikes, body armour for 52%. Police are 31% of staff on site. 3 wrong coordinates, 9 cameras without status.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Quarterly performance workbook, Joint Check Posts sheet, 1 Jan–30 Sep 2026; team analysis.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At a glance: 265 police at 15 joint posts made 955 arrests and seized 333 kg of narcotics in nine months</a:t>
            </a:r>
            <a:endParaRPr lang="en-US" sz="26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joint check posts in 7 districts; Mianwali has 4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429768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police personnel deployed, of whom 45 are elite force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8046720" y="169164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15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arrests, half of them TOs (483), plus 336 Afghan nationals</a:t>
            </a:r>
            <a:endParaRPr lang="en-US" sz="1400" dirty="0"/>
          </a:p>
        </p:txBody>
      </p:sp>
      <p:sp>
        <p:nvSpPr>
          <p:cNvPr id="12" name="Card 4"/>
          <p:cNvSpPr/>
          <p:nvPr/>
        </p:nvSpPr>
        <p:spPr>
          <a:xfrm>
            <a:off x="54864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 kg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27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narcotics seized: 308 kg chars, 19 kg ICE, 3 kg heroin</a:t>
            </a:r>
            <a:endParaRPr lang="en-US" sz="1400" dirty="0"/>
          </a:p>
        </p:txBody>
      </p:sp>
      <p:sp>
        <p:nvSpPr>
          <p:cNvPr id="15" name="Card 5"/>
          <p:cNvSpPr/>
          <p:nvPr/>
        </p:nvSpPr>
        <p:spPr>
          <a:xfrm>
            <a:off x="429768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727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weapons recovered (30 pistols, 3 K.Kove) and 192 rounds</a:t>
            </a:r>
            <a:endParaRPr lang="en-US" sz="1400" dirty="0"/>
          </a:p>
        </p:txBody>
      </p:sp>
      <p:sp>
        <p:nvSpPr>
          <p:cNvPr id="18" name="Card 6"/>
          <p:cNvSpPr/>
          <p:nvPr/>
        </p:nvSpPr>
        <p:spPr>
          <a:xfrm>
            <a:off x="8046720" y="3703320"/>
            <a:ext cx="352044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598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7274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personnel from other departments on site, against 265 police</a:t>
            </a:r>
            <a:endParaRPr lang="en-US" sz="14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Note: sheet totals were re-computed from post-level rows and reconcile for every column. “TOs” is not defined in the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Enforcement switched mode: narcotics seizures peaked in Q2, then arrests surged in Q3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 by category,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 seized by type, kg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High-value drugs (ICE + heroin): 5.7 kg in Q1, 14.0 kg in Q2, 2.8 kg in Q3. Arrests excluding Afghan nationals: 176, 188, 255. Column labels show quarter totals.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Q3 surge is a southern crackdown: 80% of the rise is Afghan-national arrests, almost all at two D.G. Khan posts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Change in arrests, Q2 to Q3,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Afghan arrests in Q3"/>
          <p:cNvSpPr txBox="1"/>
          <p:nvPr/>
        </p:nvSpPr>
        <p:spPr>
          <a:xfrm>
            <a:off x="7040880" y="1691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 of 284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Afghan arrests in Q3 were at Sakhi Sarwar (230) and Ghazi Ghat (53), both in D.G. Khan</a:t>
            </a:r>
            <a:endParaRPr lang="en-US" sz="1400" dirty="0"/>
          </a:p>
        </p:txBody>
      </p:sp>
      <p:sp>
        <p:nvSpPr>
          <p:cNvPr id="7" name="Stat added at Kot Tahir ("/>
          <p:cNvSpPr txBox="1"/>
          <p:nvPr/>
        </p:nvSpPr>
        <p:spPr>
          <a:xfrm>
            <a:off x="7040880" y="3200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 TOs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added at Kot Tahir (0→52), Daowala (2→24) and Kotsabzal (0→16); other posts fell by 10</a:t>
            </a:r>
            <a:endParaRPr lang="en-US" sz="1400" dirty="0"/>
          </a:p>
        </p:txBody>
      </p:sp>
      <p:sp>
        <p:nvSpPr>
          <p:cNvPr id="9" name="Stat Q3 arrests excluding"/>
          <p:cNvSpPr txBox="1"/>
          <p:nvPr/>
        </p:nvSpPr>
        <p:spPr>
          <a:xfrm>
            <a:off x="704088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Q3 arrests excluding Afghan nationals (188→255): steady growth, not a step change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Afghan arrests: Q1 42, Q2 10, Q3 284. A sweep of this size is unlikely to repeat every quarter; plan Q4 targets on the underlying run-rate.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Four posts moved the quarter: Sakhi Sarwar and Kot Tahir surged while Dajal and Trimin faded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914400"/>
                <a:gridCol w="15544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Change Q1→Q3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Sakhi Sarwar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6C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234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7A56"/>
                          </a:solidFill>
                        </a:rPr>
                        <a:t>+212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Ghazi Ghat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54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FA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54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FA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108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58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7A56"/>
                          </a:solidFill>
                        </a:rPr>
                        <a:t>+54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Dajal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48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3B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6B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−24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Taunsa Barrage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7B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EC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C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−8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Kot Tahir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DA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7A56"/>
                          </a:solidFill>
                        </a:rPr>
                        <a:t>+56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Daowala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FC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7A56"/>
                          </a:solidFill>
                        </a:rPr>
                        <a:t>+21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Trimin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DD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0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−11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Kotsabzal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97A56"/>
                          </a:solidFill>
                        </a:rPr>
                        <a:t>+24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Railway Pull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8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−1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Remote Chashma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C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5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−1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Kot Mithan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−1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Jinah Barrage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A64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Bhutan Wala CPEC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A64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Khushal Garh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A64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Attock Khurd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E6A64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1856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Sakhi Sarwar 22→234, Kot Tahir 1→57, Kotsabzal 2→26, Daowala 10→31. Ghazi Ghat doubled to 108.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3192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Dajal 48→24 (halved) and Trimin 15→4, which also seized 0 kg after 45 kg in Q2.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and low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7823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Seven posts stayed at or below 10 arrests a quarter; both Attock posts report none.</a:t>
            </a:r>
            <a:endParaRPr lang="en-US" sz="1400" dirty="0"/>
          </a:p>
        </p:txBody>
      </p:sp>
      <p:sp>
        <p:nvSpPr>
          <p:cNvPr id="10" name="Source note"/>
          <p:cNvSpPr txBox="1"/>
          <p:nvPr/>
        </p:nvSpPr>
        <p:spPr>
          <a:xfrm>
            <a:off x="548640" y="61264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Arrests = POs, CAs, TOs and illegal Afghan nationals. Posts sorted by nine-month total; shading shows relative size within the table.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Weapons: pistols dominate, 79% were recovered at Attock and Trimin, and rounds recovered are falling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Weapons recovered by post, number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recoveries came from"/>
          <p:cNvSpPr txBox="1"/>
          <p:nvPr/>
        </p:nvSpPr>
        <p:spPr>
          <a:xfrm>
            <a:off x="7223760" y="1691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of 33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2423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recoveries came from Attock (19) and Trimin (7); Dajal made 4 and Kotsabzal 2</a:t>
            </a:r>
            <a:endParaRPr lang="en-US" sz="1400" dirty="0"/>
          </a:p>
        </p:txBody>
      </p:sp>
      <p:sp>
        <p:nvSpPr>
          <p:cNvPr id="7" name="Stat 30 pistols and 3 K.K"/>
          <p:cNvSpPr txBox="1"/>
          <p:nvPr/>
        </p:nvSpPr>
        <p:spPr>
          <a:xfrm>
            <a:off x="7223760" y="3200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 pistols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931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 pistols and 3 K.Kove; no rifles or pump-action guns were recovered at joint posts</a:t>
            </a:r>
            <a:endParaRPr lang="en-US" sz="1400" dirty="0"/>
          </a:p>
        </p:txBody>
      </p:sp>
      <p:sp>
        <p:nvSpPr>
          <p:cNvPr id="9" name="Stat rounds recovered, 96"/>
          <p:cNvSpPr txBox="1"/>
          <p:nvPr/>
        </p:nvSpPr>
        <p:spPr>
          <a:xfrm>
            <a:off x="7223760" y="4709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−79%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5440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rounds recovered, 96 in Q1, 76 in Q2 and 20 in Q3, while weapons went 8, 16, 9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Posts with no recoveries are omitted (9 of 15). Bar labels show recoveries per quarter.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Six of fifteen posts make 85% of arrests, and two posts make 94% of narcotics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Arrests, top 6 posts (personnel in brackets)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Narcotics, top 4 posts, kg (personnel in brackets)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Implication: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top four arrest posts have 68 personnel (26% of the force) and 73% of arrests; Attock Khurd alone holds 74% of all narcotics with 21 personnel.</a:t>
            </a:r>
            <a:endParaRPr lang="en-US" sz="1400" dirty="0"/>
          </a:p>
        </p:txBody>
      </p:sp>
      <p:sp>
        <p:nvSpPr>
          <p:cNvPr id="9" name="Source note"/>
          <p:cNvSpPr txBox="1"/>
          <p:nvPr/>
        </p:nvSpPr>
        <p:spPr>
          <a:xfrm>
            <a:off x="548640" y="610819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post-level totals, Jan–Sep 2026. Kot Tahir (62) and Daowala (61) complete the top six for arrests.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Narcotics: the two Attock posts hold 78% of the weight and report no arrests; Trimin went quiet in Q3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Narcotics by post and quarter, kg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seized at the two At"/>
          <p:cNvSpPr txBox="1"/>
          <p:nvPr/>
        </p:nvSpPr>
        <p:spPr>
          <a:xfrm>
            <a:off x="7040880" y="1691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 kg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seized at the two Attock posts (78% of JCP narcotics) with zero arrests in all three quarters</a:t>
            </a:r>
            <a:endParaRPr lang="en-US" sz="1400" dirty="0"/>
          </a:p>
        </p:txBody>
      </p:sp>
      <p:sp>
        <p:nvSpPr>
          <p:cNvPr id="7" name="Stat at Trimin in Q2 drov"/>
          <p:cNvSpPr txBox="1"/>
          <p:nvPr/>
        </p:nvSpPr>
        <p:spPr>
          <a:xfrm>
            <a:off x="7040880" y="3200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kg ICE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Trimin in Q2 drove the ICE spike (14.0 kg in Q2 against 3.5 kg and 1.8 kg)</a:t>
            </a:r>
            <a:endParaRPr lang="en-US" sz="1400" dirty="0"/>
          </a:p>
        </p:txBody>
      </p:sp>
      <p:sp>
        <p:nvSpPr>
          <p:cNvPr id="9" name="Stat 308 kg of the 333 kg"/>
          <p:cNvSpPr txBox="1"/>
          <p:nvPr/>
        </p:nvSpPr>
        <p:spPr>
          <a:xfrm>
            <a:off x="704088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 chars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308 kg of the 333 kg; heroin was 3.2 kg and opium 2.2 kg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Labels shown for values of 8 kg and above. Trimin Q3: 4 arrests and 0 kg, against 13 arrests and 45 kg in Q2.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By district, D.G. Khan makes 53% of arrests with 19% of personnel; Mianwali has the most staff but 7% of arrests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Share of JCP total, % (nine months)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75895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D.G. Khan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84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posts, 50 personnel (19%): 53% of arrests, 20% of narcotics.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Attock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posts, 44 personnel (17%): 78% of narcotics, no arrests.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49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Mianwali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1422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 posts, 61 personnel (23%): 7% of arrests, 0.3% of narcotics.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928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 Addu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2212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post, 5 personnel, 106 arrests (11%).</a:t>
            </a:r>
            <a:endParaRPr lang="en-US" sz="1300" dirty="0"/>
          </a:p>
        </p:txBody>
      </p:sp>
      <p:sp>
        <p:nvSpPr>
          <p:cNvPr id="1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R.Y. Khan (2 posts, 46 personnel) and Rajanpur (2 posts, 20) contribute arrests only (91 and 75); no narcotics are recorded there.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Deployment matrix: four posts hold 34% of personnel for 7% of output, while two lean posts deliver 17% with 9% of staff</a:t>
            </a:r>
            <a:endParaRPr lang="en-US" sz="2600" dirty="0"/>
          </a:p>
        </p:txBody>
      </p:sp>
      <p:sp>
        <p:nvSpPr>
          <p:cNvPr id="3" name="Quadrant lean"/>
          <p:cNvSpPr/>
          <p:nvPr/>
        </p:nvSpPr>
        <p:spPr>
          <a:xfrm>
            <a:off x="1051560" y="1828800"/>
            <a:ext cx="2867406" cy="182541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Quadrant core"/>
          <p:cNvSpPr/>
          <p:nvPr/>
        </p:nvSpPr>
        <p:spPr>
          <a:xfrm>
            <a:off x="3918966" y="1828800"/>
            <a:ext cx="3624834" cy="182541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Quadrant light"/>
          <p:cNvSpPr/>
          <p:nvPr/>
        </p:nvSpPr>
        <p:spPr>
          <a:xfrm>
            <a:off x="1051560" y="3654213"/>
            <a:ext cx="2867406" cy="169502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Quadrant heavy"/>
          <p:cNvSpPr/>
          <p:nvPr/>
        </p:nvSpPr>
        <p:spPr>
          <a:xfrm>
            <a:off x="3918966" y="3654213"/>
            <a:ext cx="3624834" cy="1695027"/>
          </a:xfrm>
          <a:prstGeom prst="rect">
            <a:avLst/>
          </a:prstGeom>
          <a:solidFill>
            <a:schemeClr val="accent6">
              <a:alpha val="10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LEAN PERFORMERS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41848" y="1883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CORE PERFORMERS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7014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LIGHT-TOUCH POSTS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41848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HEAVY, LOW YIELD</a:t>
            </a:r>
            <a:endParaRPr lang="en-US" sz="1100" dirty="0"/>
          </a:p>
        </p:txBody>
      </p:sp>
      <p:sp>
        <p:nvSpPr>
          <p:cNvPr id="11" name="Post Khushal Garh"/>
          <p:cNvSpPr/>
          <p:nvPr/>
        </p:nvSpPr>
        <p:spPr>
          <a:xfrm>
            <a:off x="4702302" y="3427755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2" name="Post Attock Khurd"/>
          <p:cNvSpPr/>
          <p:nvPr/>
        </p:nvSpPr>
        <p:spPr>
          <a:xfrm>
            <a:off x="4377690" y="174650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3" name="Post Jinah Barrage"/>
          <p:cNvSpPr/>
          <p:nvPr/>
        </p:nvSpPr>
        <p:spPr>
          <a:xfrm>
            <a:off x="2592324" y="4807519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4" name="Post Bhutan Wala CPEC"/>
          <p:cNvSpPr/>
          <p:nvPr/>
        </p:nvSpPr>
        <p:spPr>
          <a:xfrm>
            <a:off x="4215384" y="4624514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5" name="Post Remote Chashma"/>
          <p:cNvSpPr/>
          <p:nvPr/>
        </p:nvSpPr>
        <p:spPr>
          <a:xfrm>
            <a:off x="5026914" y="4711947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Post Railway Pull"/>
          <p:cNvSpPr/>
          <p:nvPr/>
        </p:nvSpPr>
        <p:spPr>
          <a:xfrm>
            <a:off x="1943100" y="4705121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7" name="Post Dajal"/>
          <p:cNvSpPr/>
          <p:nvPr/>
        </p:nvSpPr>
        <p:spPr>
          <a:xfrm>
            <a:off x="7299198" y="3222182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8" name="Post Trimin"/>
          <p:cNvSpPr/>
          <p:nvPr/>
        </p:nvSpPr>
        <p:spPr>
          <a:xfrm>
            <a:off x="5189220" y="1962437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Post Sakhi Sarwar"/>
          <p:cNvSpPr/>
          <p:nvPr/>
        </p:nvSpPr>
        <p:spPr>
          <a:xfrm>
            <a:off x="3403854" y="3128193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0" name="Post Ghazi Ghat"/>
          <p:cNvSpPr/>
          <p:nvPr/>
        </p:nvSpPr>
        <p:spPr>
          <a:xfrm>
            <a:off x="2430018" y="3399766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1" name="Post Kot Tahir"/>
          <p:cNvSpPr/>
          <p:nvPr/>
        </p:nvSpPr>
        <p:spPr>
          <a:xfrm>
            <a:off x="2430018" y="4452539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2" name="Post Kot Mithan"/>
          <p:cNvSpPr/>
          <p:nvPr/>
        </p:nvSpPr>
        <p:spPr>
          <a:xfrm>
            <a:off x="2754630" y="4787039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3" name="Post Taunsa Barrage"/>
          <p:cNvSpPr/>
          <p:nvPr/>
        </p:nvSpPr>
        <p:spPr>
          <a:xfrm>
            <a:off x="1780794" y="4152172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Post Kotsabzal"/>
          <p:cNvSpPr/>
          <p:nvPr/>
        </p:nvSpPr>
        <p:spPr>
          <a:xfrm>
            <a:off x="5189220" y="4275877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5" name="Post Daowala"/>
          <p:cNvSpPr/>
          <p:nvPr/>
        </p:nvSpPr>
        <p:spPr>
          <a:xfrm>
            <a:off x="4215384" y="4459366"/>
            <a:ext cx="164592" cy="16459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62706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Attock Khurd (index 37.9, off scale)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99532" y="1944149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Trimin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41414" y="320389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Dajal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388870" y="3109905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Sakhi Sarwar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597914" y="338147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Ghazi Ghat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12614" y="3409467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Khushal Garh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991106" y="41338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Taunsa Barrage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640330" y="443425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Kot Tahir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399532" y="4257589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Kotsabzal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425696" y="435878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Daowala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468852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Bhutan Wala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237226" y="469365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Remote Chashma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10996" y="468683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Railway Pull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44602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06908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69214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5376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" y="4857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0751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329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8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" y="25105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" y="17282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16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5596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Personnel deployed (cut-off: average post, 18)</a:t>
            </a:r>
            <a:endParaRPr lang="en-US" sz="1100" dirty="0"/>
          </a:p>
        </p:txBody>
      </p:sp>
      <p:sp>
        <p:nvSpPr>
          <p:cNvPr id="50" name="Y axis title"/>
          <p:cNvSpPr txBox="1"/>
          <p:nvPr/>
        </p:nvSpPr>
        <p:spPr>
          <a:xfrm>
            <a:off x="320040" y="1828800"/>
            <a:ext cx="2926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Output index, % (cut-off: 6.7)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1838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Heavy, low yield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8183880" y="2020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posts  |  34% of personnel  |  7% of output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183880" y="2286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Bhutan Wala CPEC, Remote Chashma, Kotsabzal, Daowala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1838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performers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183880" y="3044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posts  |  41% of personnel  |  69% of output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183880" y="3310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Khushal Garh, Attock Khurd, Dajal, Trimin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18388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performers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818388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posts  |  9% of personnel  |  16% of output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183880" y="43342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Sakhi Sarwar, Ghazi Ghat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183880" y="4809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Light-touch posts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8183880" y="5093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posts  |  15% of personnel  |  8% of output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183880" y="53583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Jinah Barrage, Railway Pull, Kot Tahir, Kot Mithan, Taunsa Barrage</a:t>
            </a:r>
            <a:endParaRPr lang="en-US" sz="1200" dirty="0"/>
          </a:p>
        </p:txBody>
      </p:sp>
      <p:sp>
        <p:nvSpPr>
          <p:cNvPr id="6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Output index = average of each post’s share of JCP arrests, narcotics (kg) and weapons recovered, Jan–Sep 2026 (illustrative, equal weights). Cut-offs are the average post. Y axis capped at 16; Attock Khurd index is 37.9.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Yield per person runs from 0 to 24 arrests, and staffing density does not explain the gap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Arrests per person, nine months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55778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per point-shift (same order)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874520"/>
          <a:ext cx="5440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ource note"/>
          <p:cNvSpPr txBox="1"/>
          <p:nvPr/>
        </p:nvSpPr>
        <p:spPr>
          <a:xfrm>
            <a:off x="548640" y="60167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Personnel per point-shift = personnel ÷ (point duties × shifts), an indicative density measure. Railway Pull shifts not reported. Attock posts are narcotics interdiction posts, so arrests understate their output.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Police are 31% of the 863 personnel on site; Rangers and Customs make up 58%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Personnel at each joint post, by agency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74520"/>
          <a:ext cx="72237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other-department sta"/>
          <p:cNvSpPr txBox="1"/>
          <p:nvPr/>
        </p:nvSpPr>
        <p:spPr>
          <a:xfrm>
            <a:off x="813816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598 vs 265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other-department staff against police; Rangers (270) alone outnumber police</a:t>
            </a:r>
            <a:endParaRPr lang="en-US" sz="1400" dirty="0"/>
          </a:p>
        </p:txBody>
      </p:sp>
      <p:sp>
        <p:nvSpPr>
          <p:cNvPr id="7" name="Stat Kot Tahir and Kot Mi"/>
          <p:cNvSpPr txBox="1"/>
          <p:nvPr/>
        </p:nvSpPr>
        <p:spPr>
          <a:xfrm>
            <a:off x="8138160" y="3200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posts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931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Kot Tahir and Kot Mithan have police only; Kot Tahir still made 62 arrests with 9 police</a:t>
            </a:r>
            <a:endParaRPr lang="en-US" sz="1400" dirty="0"/>
          </a:p>
        </p:txBody>
      </p:sp>
      <p:sp>
        <p:nvSpPr>
          <p:cNvPr id="9" name="Stat Customs staff of 32 "/>
          <p:cNvSpPr txBox="1"/>
          <p:nvPr/>
        </p:nvSpPr>
        <p:spPr>
          <a:xfrm>
            <a:off x="8138160" y="4709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Kalabagh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5440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Customs staff of 32 and 35 outnumber police at Jinah Barrage (10) and Railway Pull (6)</a:t>
            </a:r>
            <a:endParaRPr lang="en-US" sz="1400" dirty="0"/>
          </a:p>
        </p:txBody>
      </p:sp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Other departments: food, health, agriculture, SB, SPU (revenue reports none). Zero values are hidden.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Resources: five vehicles, no bikes and body armour for 52% of staff across 15 posts</a:t>
            </a:r>
            <a:endParaRPr lang="en-US" sz="2600" dirty="0"/>
          </a:p>
        </p:txBody>
      </p:sp>
      <p:sp>
        <p:nvSpPr>
          <p:cNvPr id="3" name="Stat at 4 of 15 posts (Tr"/>
          <p:cNvSpPr txBox="1"/>
          <p:nvPr/>
        </p:nvSpPr>
        <p:spPr>
          <a:xfrm>
            <a:off x="5486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vehicles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4 of 15 posts (Trimin 2, Remote Chashma, Dajal, Daowala); the three leanest high-yield posts have none</a:t>
            </a:r>
            <a:endParaRPr lang="en-US" sz="1400" dirty="0"/>
          </a:p>
        </p:txBody>
      </p:sp>
      <p:sp>
        <p:nvSpPr>
          <p:cNvPr id="5" name="Stat bullet-proof jackets"/>
          <p:cNvSpPr txBox="1"/>
          <p:nvPr/>
        </p:nvSpPr>
        <p:spPr>
          <a:xfrm>
            <a:off x="548640" y="3200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 for 265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bullet-proof jackets: 52% cover; border posts average 69%</a:t>
            </a:r>
            <a:endParaRPr lang="en-US" sz="1400" dirty="0"/>
          </a:p>
        </p:txBody>
      </p:sp>
      <p:sp>
        <p:nvSpPr>
          <p:cNvPr id="7" name="Stat boundary walls compl"/>
          <p:cNvSpPr txBox="1"/>
          <p:nvPr/>
        </p:nvSpPr>
        <p:spPr>
          <a:xfrm>
            <a:off x="548640" y="4709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40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boundary walls complete; 2 incomplete and 4 coded 0. Cameras: 110 of 121 functional, 2 faulty, 9 no status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Lowest jacket coverage, jackets per person, %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874520"/>
          <a:ext cx="5440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Personnel in brackets. Ghazi Ghat reports 2 of 4 cameras not functional. Daowala and Kotsabzal (R.Y. Khan) leave several equipment fields blank.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 quality: totals reconcile, but six issues limit what the JCP numbers can show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it matters / action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Wrong coordinates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Kot Tahir and Kot Mithan (longitude 61.7, outside range); Taunsa Barrage (lat and long swapped)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Posts mis-plot on any map; correct before hotspot or route analysis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Post listed twice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Remote Chashma is also Chashma Check Post in the border sheet: same location, staff and kit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25 personnel may be double counted; performance differs, so reconcile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Cameras unaccounted for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Khushal Garh (5) and Attock Khurd (4): installed, none reported functional or faulty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Uptime reads 91% (110 of 121), or 98% if the 9 are excluded; record status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“TOs” undefined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483 of 955 arrests (51%); Ghazi Ghat reports 52, 52, 53 and Taunsa 35, 30, 33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Define the term; validate the flat quarterly pattern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Seizures with no arrests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Both Attock posts: 261 kg narcotics, zero arrests in every quarter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Check whether arrests are booked elsewhere or recoveries are abandoned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620"/>
                          </a:solidFill>
                        </a:rPr>
                        <a:t>Blanks and coding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Railway Pull shifts blank; Daowala TO Q1 and Kotsabzal CA Q1 blank; wall mixes 1, 0 and “incomplete”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620"/>
                          </a:solidFill>
                        </a:rPr>
                        <a:t>Separate zero from not reported; standardise wall to % complete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1264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Checks run on the sheet: every total row re-computed from post rows (all match); no hidden rows or columns; formulas only in the total 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Recommended actions: copy what works in the south, close the Attock gap, probe the fallers, fix the data</a:t>
            </a:r>
            <a:endParaRPr lang="en-US" sz="2600" dirty="0"/>
          </a:p>
        </p:txBody>
      </p:sp>
      <p:sp>
        <p:nvSpPr>
          <p:cNvPr id="3" name="Marker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the southern model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600200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Sakhi Sarwar and Ghazi Ghat make 17–24 arrests per person. Document their methods and give them vehicles, jackets and working cameras.</a:t>
            </a:r>
            <a:endParaRPr lang="en-US" sz="1400" dirty="0"/>
          </a:p>
        </p:txBody>
      </p:sp>
      <p:sp>
        <p:nvSpPr>
          <p:cNvPr id="7" name="Marker 2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871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Attock seizure-to-arrest gap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487168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261 kg seized, no arrests. Trace case registration and link recoveries to accused.</a:t>
            </a:r>
            <a:endParaRPr lang="en-US" sz="1400" dirty="0"/>
          </a:p>
        </p:txBody>
      </p:sp>
      <p:sp>
        <p:nvSpPr>
          <p:cNvPr id="11" name="Marker 3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741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the fallers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374136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Dajal arrests halved (48→24); Trimin fell to 4 arrests and 0 kg. Check displacement, staffing and intelligence flow.</a:t>
            </a:r>
            <a:endParaRPr lang="en-US" sz="1400" dirty="0"/>
          </a:p>
        </p:txBody>
      </p:sp>
      <p:sp>
        <p:nvSpPr>
          <p:cNvPr id="15" name="Marker 4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261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four heavy, low-yield posts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4261104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Bhutan Wala, Remote Chashma, Kotsabzal, Daowala: 91 personnel, 7% of output. Remote Chashma has 12.5 staff per point-shift.</a:t>
            </a:r>
            <a:endParaRPr lang="en-US" sz="1400" dirty="0"/>
          </a:p>
        </p:txBody>
      </p:sp>
      <p:sp>
        <p:nvSpPr>
          <p:cNvPr id="19" name="Marker 5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480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data before Q4 reporting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5148072"/>
            <a:ext cx="6108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coordinates, Chashma duplicate, 9 cameras, define TOs, separate blanks from zeros.</a:t>
            </a:r>
            <a:endParaRPr lang="en-US" sz="1400" dirty="0"/>
          </a:p>
        </p:txBody>
      </p:sp>
      <p:sp>
        <p:nvSpPr>
          <p:cNvPr id="23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 Q4 targets on the underlying run-rate (255 arrests excluding Afghan nationals), not the Q3 total of 539. Recommendations are directional and need validation against post mandates.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Quarterly KPI baseline: underlying arrests grew from 176 to 188 to 255 while narcotics and rounds fell in Q3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1737360"/>
                <a:gridCol w="1737360"/>
                <a:gridCol w="1673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Nine months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Arrests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218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198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539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955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Arrests excluding Afghan nationals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176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188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255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619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Arrests per person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0.82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0.75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2.03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3.60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POs and CAs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55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42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136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TOs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137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133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213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483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Illegal Afghan nationals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42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284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336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Narcotics, kg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96.8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197.2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38.9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332.9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Weapons recovered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20"/>
                          </a:solidFill>
                        </a:rPr>
                        <a:t>Rounds recovered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96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76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620"/>
                          </a:solidFill>
                        </a:rPr>
                        <a:t>192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56692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Posts reporting some output: 15 in Q1, 14 in Q2, 15 in Q3. Per-person figures use 265 deployed police (elite and regular).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Appendix A: Joint check post scorecard, Q1–Q3 2026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46120"/>
                <a:gridCol w="685800"/>
                <a:gridCol w="914400"/>
                <a:gridCol w="640080"/>
                <a:gridCol w="640080"/>
                <a:gridCol w="1280160"/>
                <a:gridCol w="685800"/>
                <a:gridCol w="685800"/>
                <a:gridCol w="117043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Arrests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Narcotics kg Q1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Weapons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Khushal Garh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3.8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9.6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 Khurd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71.0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152.2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24.3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Jinah Barrage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Bhutan Wala CPEC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Remote Chashma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Mianwali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Railway Pull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Bhakkar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Dajal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Trimin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22.0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45.0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Sakhi Sarwar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D.G.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Ghazi Ghat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Rajanpur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 Tahir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Rajanpur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 Mithan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 Addu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Taunsa Barrage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R.Y.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Kotsabzal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R.Y. Khan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Daowala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0.0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265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218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198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539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96.8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197.2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38.9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Staff = elite plus regular police deployed. Arrests = POs, CAs, TOs and illegal Afghan nationals. Narcotics = chars, opium, heroin and ICE. Weapons = pistols, rifles, pump-action guns and K.Kove, nine months.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Appendix B: Joint check post deployment and equipment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40080"/>
                <a:gridCol w="640080"/>
                <a:gridCol w="685800"/>
                <a:gridCol w="685800"/>
                <a:gridCol w="685800"/>
                <a:gridCol w="731520"/>
                <a:gridCol w="868680"/>
                <a:gridCol w="777240"/>
                <a:gridCol w="822960"/>
                <a:gridCol w="1627632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Elite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Shifts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Rifles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K.Kove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Rounds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Jackets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Vehicles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CCTV (working / installed)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Boundary wall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Khushal Garh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 / 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Attock Khurd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2,060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 / 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Jinah Barrage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1,527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 / 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Bhutan Wala CPEC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3,000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42 / 42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Remote Chashma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10,049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 / 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Railway Pull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160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 / 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Dajal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6,530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14 / 14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Trimin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9,200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 / 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Sakhi Sarwar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1,010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 / 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Ghazi Ghat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252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 / 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 Tahir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6 / 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 Mithan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 / 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incomplete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Taunsa Barrage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351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3 / 3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incomplete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Kotsabzal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2,844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 / 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Daowala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4,300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5 / 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20"/>
                          </a:solidFill>
                        </a:rPr>
                        <a:t>Complete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265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94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42,108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138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620"/>
                          </a:solidFill>
                        </a:rPr>
                        <a:t>110 / 121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05332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– = blank in the workbook. Pistols (15), pump-action guns (4) and tear-gas guns (12) are in the workbook but omitted here for width. Bikes: none.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ck Post Review">
  <a:themeElements>
    <a:clrScheme name="Check Post Review">
      <a:dk1>
        <a:srgbClr val="1B2620"/>
      </a:dk1>
      <a:lt1>
        <a:srgbClr val="FFFFFF"/>
      </a:lt1>
      <a:dk2>
        <a:srgbClr val="0B3D2E"/>
      </a:dk2>
      <a:lt2>
        <a:srgbClr val="EEF3F0"/>
      </a:lt2>
      <a:accent1>
        <a:srgbClr val="197A56"/>
      </a:accent1>
      <a:accent2>
        <a:srgbClr val="2EB67D"/>
      </a:accent2>
      <a:accent3>
        <a:srgbClr val="A8DBC3"/>
      </a:accent3>
      <a:accent4>
        <a:srgbClr val="5E6A64"/>
      </a:accent4>
      <a:accent5>
        <a:srgbClr val="C9D3CD"/>
      </a:accent5>
      <a:accent6>
        <a:srgbClr val="C8553D"/>
      </a:accent6>
      <a:hlink>
        <a:srgbClr val="197A56"/>
      </a:hlink>
      <a:folHlink>
        <a:srgbClr val="5E6A64"/>
      </a:folHlink>
    </a:clrScheme>
    <a:fontScheme name="Check Pos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Joint Check Posts: performance review, Q1-Q3 2026</dc:title>
  <dc:subject>PptxGenJS Presentation</dc:subject>
  <dc:creator>Analysis</dc:creator>
  <cp:lastModifiedBy>Analysis</cp:lastModifiedBy>
  <cp:revision>1</cp:revision>
  <dcterms:created xsi:type="dcterms:W3CDTF">2026-10-08T11:40:22Z</dcterms:created>
  <dcterms:modified xsi:type="dcterms:W3CDTF">2026-10-08T11:40:22Z</dcterms:modified>
</cp:coreProperties>
</file>