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8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9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Personnel</c:v>
                </c:pt>
              </c:strCache>
            </c:strRef>
          </c:tx>
          <c:spPr>
            <a:solidFill>
              <a:srgbClr val="1B7F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1E2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7F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7F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7F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Mianwali (5 posts)</c:v>
                  </c:pt>
                  <c:pt idx="1">
                    <c:v>D.G.Khan (2 posts)</c:v>
                  </c:pt>
                  <c:pt idx="2">
                    <c:v>Bhakkar (3 posts)</c:v>
                  </c:pt>
                  <c:pt idx="3">
                    <c:v>Attock (2 posts)</c:v>
                  </c:pt>
                  <c:pt idx="4">
                    <c:v>Murree (4 posts)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154</c:v>
                </c:pt>
                <c:pt idx="1">
                  <c:v>78</c:v>
                </c:pt>
                <c:pt idx="2">
                  <c:v>74</c:v>
                </c:pt>
                <c:pt idx="3">
                  <c:v>29</c:v>
                </c:pt>
                <c:pt idx="4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2000" u="none">
                  <a:solidFill>
                    <a:srgbClr val="1E2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E26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F6A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Personnel</c:v>
                </c:pt>
              </c:strCache>
            </c:strRef>
          </c:tx>
          <c:spPr>
            <a:solidFill>
              <a:srgbClr val="1B7F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1E2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7F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Constables</c:v>
                  </c:pt>
                  <c:pt idx="1">
                    <c:v>Head Constables</c:v>
                  </c:pt>
                  <c:pt idx="2">
                    <c:v>ASIs</c:v>
                  </c:pt>
                  <c:pt idx="3">
                    <c:v>SIs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299</c:v>
                </c:pt>
                <c:pt idx="1">
                  <c:v>23</c:v>
                </c:pt>
                <c:pt idx="2">
                  <c:v>25</c:v>
                </c:pt>
                <c:pt idx="3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2000" u="none">
                  <a:solidFill>
                    <a:srgbClr val="1E2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E26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F6A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Jackets per 100</c:v>
                </c:pt>
              </c:strCache>
            </c:strRef>
          </c:tx>
          <c:spPr>
            <a:solidFill>
              <a:srgbClr val="C837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1E2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372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Shakardara</c:v>
                  </c:pt>
                  <c:pt idx="1">
                    <c:v>ACLC Jhari Kass</c:v>
                  </c:pt>
                  <c:pt idx="2">
                    <c:v> ACLC Kotkay</c:v>
                  </c:pt>
                  <c:pt idx="3">
                    <c:v>Kundal</c:v>
                  </c:pt>
                  <c:pt idx="4">
                    <c:v>Pattan Kanial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38</c:v>
                </c:pt>
                <c:pt idx="2">
                  <c:v>46</c:v>
                </c:pt>
                <c:pt idx="3">
                  <c:v>47</c:v>
                </c:pt>
                <c:pt idx="4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2000" u="none">
                  <a:solidFill>
                    <a:srgbClr val="1E2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E26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F6A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Weapons</c:v>
                </c:pt>
              </c:strCache>
            </c:strRef>
          </c:tx>
          <c:spPr>
            <a:solidFill>
              <a:srgbClr val="1B7F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1E2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7F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7F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9C0B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Kalashnikovs</c:v>
                  </c:pt>
                  <c:pt idx="1">
                    <c:v>Rifles</c:v>
                  </c:pt>
                  <c:pt idx="2">
                    <c:v>Pistols</c:v>
                  </c:pt>
                  <c:pt idx="3">
                    <c:v>Pump-action guns</c:v>
                  </c:pt>
                  <c:pt idx="4">
                    <c:v>Tear-gas guns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197</c:v>
                </c:pt>
                <c:pt idx="1">
                  <c:v>139</c:v>
                </c:pt>
                <c:pt idx="2">
                  <c:v>53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2000" u="none">
                  <a:solidFill>
                    <a:srgbClr val="1E2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E26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F6A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</c:v>
                </c:pt>
              </c:strCache>
            </c:strRef>
          </c:tx>
          <c:spPr>
            <a:solidFill>
              <a:srgbClr val="0F5A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Jan–Mar</c:v>
                  </c:pt>
                  <c:pt idx="1">
                    <c:v>Apr–Jun</c:v>
                  </c:pt>
                  <c:pt idx="2">
                    <c:v>Jul–Sep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10</c:v>
                </c:pt>
                <c:pt idx="2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</c:v>
                </c:pt>
              </c:strCache>
            </c:strRef>
          </c:tx>
          <c:spPr>
            <a:solidFill>
              <a:srgbClr val="4C9F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Jan–Mar</c:v>
                  </c:pt>
                  <c:pt idx="1">
                    <c:v>Apr–Jun</c:v>
                  </c:pt>
                  <c:pt idx="2">
                    <c:v>Jul–Sep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</c:v>
                </c:pt>
                <c:pt idx="1">
                  <c:v>7</c:v>
                </c:pt>
                <c:pt idx="2">
                  <c:v>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TOs</c:v>
                </c:pt>
              </c:strCache>
            </c:strRef>
          </c:tx>
          <c:spPr>
            <a:solidFill>
              <a:srgbClr val="7C87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Jan–Mar</c:v>
                  </c:pt>
                  <c:pt idx="1">
                    <c:v>Apr–Jun</c:v>
                  </c:pt>
                  <c:pt idx="2">
                    <c:v>Jul–Sep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16</c:v>
                </c:pt>
                <c:pt idx="1">
                  <c:v>18</c:v>
                </c:pt>
                <c:pt idx="2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8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FFFF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2200" u="none">
                    <a:solidFill>
                      <a:srgbClr val="1E2622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FFF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Jan–Mar</c:v>
                  </c:pt>
                  <c:pt idx="1">
                    <c:v>Apr–Jun</c:v>
                  </c:pt>
                  <c:pt idx="2">
                    <c:v>Jul–Sep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39</c:v>
                </c:pt>
                <c:pt idx="1">
                  <c:v>35</c:v>
                </c:pt>
                <c:pt idx="2">
                  <c:v>33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2200" u="none">
                  <a:solidFill>
                    <a:srgbClr val="1E2622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E26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F6A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Chars</c:v>
                </c:pt>
              </c:strCache>
            </c:strRef>
          </c:tx>
          <c:spPr>
            <a:solidFill>
              <a:srgbClr val="0F5A3F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1E2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Jan–Mar
1.6 kg in all</c:v>
                  </c:pt>
                  <c:pt idx="1">
                    <c:v>Apr–Jun
14.2 kg in all</c:v>
                  </c:pt>
                  <c:pt idx="2">
                    <c:v>Jul–Sep
4.0 kg in all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0.52</c:v>
                </c:pt>
                <c:pt idx="1">
                  <c:v>8.92</c:v>
                </c:pt>
                <c:pt idx="2">
                  <c:v>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ICE</c:v>
                </c:pt>
              </c:strCache>
            </c:strRef>
          </c:tx>
          <c:spPr>
            <a:solidFill>
              <a:srgbClr val="4C9F7A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1E2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Jan–Mar
1.6 kg in all</c:v>
                  </c:pt>
                  <c:pt idx="1">
                    <c:v>Apr–Jun
14.2 kg in all</c:v>
                  </c:pt>
                  <c:pt idx="2">
                    <c:v>Jul–Sep
4.0 kg in all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1.1</c:v>
                </c:pt>
                <c:pt idx="1">
                  <c:v>3.3</c:v>
                </c:pt>
                <c:pt idx="2">
                  <c:v>1.637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Heroin</c:v>
                </c:pt>
              </c:strCache>
            </c:strRef>
          </c:tx>
          <c:spPr>
            <a:solidFill>
              <a:srgbClr val="7C8782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1E2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Jan–Mar
1.6 kg in all</c:v>
                  </c:pt>
                  <c:pt idx="1">
                    <c:v>Apr–Jun
14.2 kg in all</c:v>
                  </c:pt>
                  <c:pt idx="2">
                    <c:v>Jul–Sep
4.0 kg in all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2</c:v>
                </c:pt>
                <c:pt idx="2">
                  <c:v>0</c:v>
                </c:pt>
              </c:numCache>
            </c:numRef>
          </c:val>
        </c:ser>
        <c:dLbls>
          <c:numFmt formatCode="0.0;;;" sourceLinked="0"/>
          <c:txPr>
            <a:bodyPr/>
            <a:lstStyle/>
            <a:p>
              <a:pPr>
                <a:defRPr b="0" i="0" strike="noStrike" sz="1800" u="none">
                  <a:solidFill>
                    <a:srgbClr val="1E2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E26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.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F6A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Pistols</c:v>
                </c:pt>
              </c:strCache>
            </c:strRef>
          </c:tx>
          <c:spPr>
            <a:solidFill>
              <a:srgbClr val="0F5A3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Jan–Mar</c:v>
                  </c:pt>
                  <c:pt idx="1">
                    <c:v>Apr–Jun</c:v>
                  </c:pt>
                  <c:pt idx="2">
                    <c:v>Jul–Sep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Rifles</c:v>
                </c:pt>
              </c:strCache>
            </c:strRef>
          </c:tx>
          <c:spPr>
            <a:solidFill>
              <a:srgbClr val="4C9F7A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Jan–Mar</c:v>
                  </c:pt>
                  <c:pt idx="1">
                    <c:v>Apr–Jun</c:v>
                  </c:pt>
                  <c:pt idx="2">
                    <c:v>Jul–Sep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Kalashnikovs</c:v>
                </c:pt>
              </c:strCache>
            </c:strRef>
          </c:tx>
          <c:spPr>
            <a:solidFill>
              <a:srgbClr val="7C8782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Jan–Mar</c:v>
                  </c:pt>
                  <c:pt idx="1">
                    <c:v>Apr–Jun</c:v>
                  </c:pt>
                  <c:pt idx="2">
                    <c:v>Jul–Sep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2</c:v>
                </c:pt>
                <c:pt idx="2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18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FFFF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2200" u="none">
                    <a:solidFill>
                      <a:srgbClr val="1E2622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FFF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Jan–Mar</c:v>
                  </c:pt>
                  <c:pt idx="1">
                    <c:v>Apr–Jun</c:v>
                  </c:pt>
                  <c:pt idx="2">
                    <c:v>Jul–Sep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2200" u="none">
                  <a:solidFill>
                    <a:srgbClr val="1E2622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E26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F6A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Personnel</c:v>
                </c:pt>
              </c:strCache>
            </c:strRef>
          </c:tx>
          <c:spPr>
            <a:solidFill>
              <a:srgbClr val="B9C0B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1E2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Khalid bin Waleed (Lakhani)</c:v>
                  </c:pt>
                  <c:pt idx="1">
                    <c:v>Qabool Khel</c:v>
                  </c:pt>
                  <c:pt idx="2">
                    <c:v>Kundal</c:v>
                  </c:pt>
                  <c:pt idx="3">
                    <c:v>Umar Farooq (Jhangi)</c:v>
                  </c:pt>
                  <c:pt idx="4">
                    <c:v>Murree, 4 posts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</c:v>
                </c:pt>
                <c:pt idx="1">
                  <c:v>37</c:v>
                </c:pt>
                <c:pt idx="2">
                  <c:v>36</c:v>
                </c:pt>
                <c:pt idx="3">
                  <c:v>30</c:v>
                </c:pt>
                <c:pt idx="4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2000" u="none">
                  <a:solidFill>
                    <a:srgbClr val="1E2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E26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F6A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Jan–Mar</c:v>
                </c:pt>
              </c:strCache>
            </c:strRef>
          </c:tx>
          <c:spPr>
            <a:solidFill>
              <a:srgbClr val="0F5A3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2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Daratang</c:v>
                  </c:pt>
                  <c:pt idx="1">
                    <c:v>Shakardara</c:v>
                  </c:pt>
                  <c:pt idx="2">
                    <c:v>Chashma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</c:v>
                </c:pt>
                <c:pt idx="1">
                  <c:v>10</c:v>
                </c:pt>
                <c:pt idx="2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Apr–Jun</c:v>
                </c:pt>
              </c:strCache>
            </c:strRef>
          </c:tx>
          <c:spPr>
            <a:solidFill>
              <a:srgbClr val="4C9F7A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2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Daratang</c:v>
                  </c:pt>
                  <c:pt idx="1">
                    <c:v>Shakardara</c:v>
                  </c:pt>
                  <c:pt idx="2">
                    <c:v>Chashma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</c:v>
                </c:pt>
                <c:pt idx="1">
                  <c:v>11</c:v>
                </c:pt>
                <c:pt idx="2">
                  <c:v>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Jul–Sep</c:v>
                </c:pt>
              </c:strCache>
            </c:strRef>
          </c:tx>
          <c:spPr>
            <a:solidFill>
              <a:srgbClr val="7C8782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2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Daratang</c:v>
                  </c:pt>
                  <c:pt idx="1">
                    <c:v>Shakardara</c:v>
                  </c:pt>
                  <c:pt idx="2">
                    <c:v>Chashma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</c:v>
                </c:pt>
                <c:pt idx="1">
                  <c:v>8</c:v>
                </c:pt>
                <c:pt idx="2">
                  <c:v>6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2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1E26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F6A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Source: District Police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201168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397764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Source: District Police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365760"/>
            <a:ext cx="10911535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1371600"/>
            <a:ext cx="1091153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20116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 Check Posts</a:t>
            </a:r>
            <a:endParaRPr lang="en-US" sz="4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3977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performance, January to September 2026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months of border enforcement, in four numbers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13716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Sixteen posts in five districts, guarded by 355 personnel</a:t>
            </a:r>
            <a:endParaRPr lang="en-US" sz="1800" dirty="0"/>
          </a:p>
        </p:txBody>
      </p:sp>
      <p:sp>
        <p:nvSpPr>
          <p:cNvPr id="4" name="Card"/>
          <p:cNvSpPr/>
          <p:nvPr/>
        </p:nvSpPr>
        <p:spPr>
          <a:xfrm>
            <a:off x="640080" y="228600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4231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566160"/>
            <a:ext cx="2103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offenders arrested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3423818" y="228600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2418" y="24231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19.9 kg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652418" y="3566160"/>
            <a:ext cx="2103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narcotics seized</a:t>
            </a:r>
            <a:endParaRPr lang="en-US" sz="2200" dirty="0"/>
          </a:p>
        </p:txBody>
      </p:sp>
      <p:sp>
        <p:nvSpPr>
          <p:cNvPr id="10" name="Card"/>
          <p:cNvSpPr/>
          <p:nvPr/>
        </p:nvSpPr>
        <p:spPr>
          <a:xfrm>
            <a:off x="6207557" y="228600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36157" y="24231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436157" y="3566160"/>
            <a:ext cx="2103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weapons recovered, with 58 rounds of ammunition</a:t>
            </a:r>
            <a:endParaRPr lang="en-US" sz="2200" dirty="0"/>
          </a:p>
        </p:txBody>
      </p:sp>
      <p:sp>
        <p:nvSpPr>
          <p:cNvPr id="13" name="Card"/>
          <p:cNvSpPr/>
          <p:nvPr/>
        </p:nvSpPr>
        <p:spPr>
          <a:xfrm>
            <a:off x="8991295" y="228600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19895" y="24231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9219895" y="3566160"/>
            <a:ext cx="2103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illegal Afghan nationals arrested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districts field 86% of the border force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13716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deployed by district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011680"/>
          <a:ext cx="72237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8412480" y="210312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41080" y="224028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301752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shifts planned across the posts</a:t>
            </a:r>
            <a:endParaRPr lang="en-US" sz="2000" dirty="0"/>
          </a:p>
        </p:txBody>
      </p:sp>
      <p:sp>
        <p:nvSpPr>
          <p:cNvPr id="8" name="Card"/>
          <p:cNvSpPr/>
          <p:nvPr/>
        </p:nvSpPr>
        <p:spPr>
          <a:xfrm>
            <a:off x="8412480" y="420624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41080" y="434340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512064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duties planned across the posts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Constables make up 84% of the force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13716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by rank, Elite Force and District Police combined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011680"/>
          <a:ext cx="72237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8412480" y="210312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41080" y="224028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133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301752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Force personnel, 37% of the force</a:t>
            </a:r>
            <a:endParaRPr lang="en-US" sz="2000" dirty="0"/>
          </a:p>
        </p:txBody>
      </p:sp>
      <p:sp>
        <p:nvSpPr>
          <p:cNvPr id="8" name="Card"/>
          <p:cNvSpPr/>
          <p:nvPr/>
        </p:nvSpPr>
        <p:spPr>
          <a:xfrm>
            <a:off x="8412480" y="420624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41080" y="434340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222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512064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Police personnel, 63% of the force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 three personnel has no bullet-proof jacket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13716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Jackets per 100 personnel at the five least-covered posts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011680"/>
          <a:ext cx="72237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8412480" y="210312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41080" y="224028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301752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personnel are covered: 246 jackets for 355</a:t>
            </a:r>
            <a:endParaRPr lang="en-US" sz="2000" dirty="0"/>
          </a:p>
        </p:txBody>
      </p:sp>
      <p:sp>
        <p:nvSpPr>
          <p:cNvPr id="8" name="Card"/>
          <p:cNvSpPr/>
          <p:nvPr/>
        </p:nvSpPr>
        <p:spPr>
          <a:xfrm>
            <a:off x="8412480" y="420624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41080" y="434340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for 20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512064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jackets for personnel at Shakardara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guns outnumber pistols six to one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13716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Weapons held across the sixteen posts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011680"/>
          <a:ext cx="72237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8412480" y="2103120"/>
            <a:ext cx="3136392" cy="3931920"/>
          </a:xfrm>
          <a:prstGeom prst="roundRect">
            <a:avLst>
              <a:gd name="adj" fmla="val 2332"/>
            </a:avLst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41080" y="2240280"/>
            <a:ext cx="2679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135,048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3200400"/>
            <a:ext cx="267919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of ammunition held in stock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Murree and Attock posts run without walls or vehicles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13716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with a vehicle, a working camera and a complete boundary wall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73152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37360"/>
                <a:gridCol w="173736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5F6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E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5F6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E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5F6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E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5F6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 wall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E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Mianwali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of 5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0F5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of 5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0F5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of 5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Bhakkar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0F5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of 3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0F5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of 3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0F5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of 3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D.G.Khan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0F5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of 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0F5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of 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0F5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of 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Attock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C837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of 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0F5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of 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C837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of 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Murree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C837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of 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of 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C837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of 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1"/>
                    </a:solidFill>
                  </a:tcPr>
                </a:tc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8412480" y="210312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41080" y="224028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 of 104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301752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in working order</a:t>
            </a:r>
            <a:endParaRPr lang="en-US" sz="2000" dirty="0"/>
          </a:p>
        </p:txBody>
      </p:sp>
      <p:sp>
        <p:nvSpPr>
          <p:cNvPr id="8" name="Card"/>
          <p:cNvSpPr/>
          <p:nvPr/>
        </p:nvSpPr>
        <p:spPr>
          <a:xfrm>
            <a:off x="8412480" y="420624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41080" y="434340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+ 12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512064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and motorcycles for sixteen posts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Arrests eased 15% between January and September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13716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Offenders arrested in each quarter</a:t>
            </a:r>
            <a:endParaRPr lang="en-US" sz="1800" dirty="0"/>
          </a:p>
        </p:txBody>
      </p:sp>
      <p:sp>
        <p:nvSpPr>
          <p:cNvPr id="4" name="Key"/>
          <p:cNvSpPr/>
          <p:nvPr/>
        </p:nvSpPr>
        <p:spPr>
          <a:xfrm>
            <a:off x="640080" y="1984248"/>
            <a:ext cx="182880" cy="182880"/>
          </a:xfrm>
          <a:prstGeom prst="rect">
            <a:avLst/>
          </a:prstGeom>
          <a:solidFill>
            <a:srgbClr val="0F5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Proclaimed offenders</a:t>
            </a:r>
            <a:endParaRPr lang="en-US" sz="1600" dirty="0"/>
          </a:p>
        </p:txBody>
      </p:sp>
      <p:sp>
        <p:nvSpPr>
          <p:cNvPr id="6" name="Key"/>
          <p:cNvSpPr/>
          <p:nvPr/>
        </p:nvSpPr>
        <p:spPr>
          <a:xfrm>
            <a:off x="3703320" y="1984248"/>
            <a:ext cx="182880" cy="182880"/>
          </a:xfrm>
          <a:prstGeom prst="rect">
            <a:avLst/>
          </a:prstGeom>
          <a:solidFill>
            <a:srgbClr val="4C9F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977640" y="19202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absconders</a:t>
            </a:r>
            <a:endParaRPr lang="en-US" sz="1600" dirty="0"/>
          </a:p>
        </p:txBody>
      </p:sp>
      <p:sp>
        <p:nvSpPr>
          <p:cNvPr id="8" name="Key"/>
          <p:cNvSpPr/>
          <p:nvPr/>
        </p:nvSpPr>
        <p:spPr>
          <a:xfrm>
            <a:off x="6309360" y="1984248"/>
            <a:ext cx="182880" cy="182880"/>
          </a:xfrm>
          <a:prstGeom prst="rect">
            <a:avLst/>
          </a:prstGeom>
          <a:solidFill>
            <a:srgbClr val="7C87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0" y="1920240"/>
            <a:ext cx="6172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</a:t>
            </a:r>
            <a:endParaRPr lang="en-US" sz="16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40080" y="2286000"/>
          <a:ext cx="72237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Card"/>
          <p:cNvSpPr/>
          <p:nvPr/>
        </p:nvSpPr>
        <p:spPr>
          <a:xfrm>
            <a:off x="8412480" y="2103120"/>
            <a:ext cx="3136392" cy="3931920"/>
          </a:xfrm>
          <a:prstGeom prst="roundRect">
            <a:avLst>
              <a:gd name="adj" fmla="val 2332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41080" y="2240280"/>
            <a:ext cx="2679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 of 107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3200400"/>
            <a:ext cx="267919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arrests were TOs, the largest group in every quarter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Narcotics seizures rose almost ninefold in April–June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13716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Narcotics seized in each quarter, kilograms</a:t>
            </a:r>
            <a:endParaRPr lang="en-US" sz="1800" dirty="0"/>
          </a:p>
        </p:txBody>
      </p:sp>
      <p:sp>
        <p:nvSpPr>
          <p:cNvPr id="4" name="Key"/>
          <p:cNvSpPr/>
          <p:nvPr/>
        </p:nvSpPr>
        <p:spPr>
          <a:xfrm>
            <a:off x="640080" y="1984248"/>
            <a:ext cx="182880" cy="182880"/>
          </a:xfrm>
          <a:prstGeom prst="rect">
            <a:avLst/>
          </a:prstGeom>
          <a:solidFill>
            <a:srgbClr val="0F5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8458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Chars</a:t>
            </a:r>
            <a:endParaRPr lang="en-US" sz="1600" dirty="0"/>
          </a:p>
        </p:txBody>
      </p:sp>
      <p:sp>
        <p:nvSpPr>
          <p:cNvPr id="6" name="Key"/>
          <p:cNvSpPr/>
          <p:nvPr/>
        </p:nvSpPr>
        <p:spPr>
          <a:xfrm>
            <a:off x="1988820" y="1984248"/>
            <a:ext cx="182880" cy="182880"/>
          </a:xfrm>
          <a:prstGeom prst="rect">
            <a:avLst/>
          </a:prstGeom>
          <a:solidFill>
            <a:srgbClr val="4C9F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263140" y="1920240"/>
            <a:ext cx="6172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</a:t>
            </a:r>
            <a:endParaRPr lang="en-US" sz="1600" dirty="0"/>
          </a:p>
        </p:txBody>
      </p:sp>
      <p:sp>
        <p:nvSpPr>
          <p:cNvPr id="8" name="Key"/>
          <p:cNvSpPr/>
          <p:nvPr/>
        </p:nvSpPr>
        <p:spPr>
          <a:xfrm>
            <a:off x="3108960" y="1984248"/>
            <a:ext cx="182880" cy="182880"/>
          </a:xfrm>
          <a:prstGeom prst="rect">
            <a:avLst/>
          </a:prstGeom>
          <a:solidFill>
            <a:srgbClr val="7C87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83280" y="19202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Heroin</a:t>
            </a:r>
            <a:endParaRPr lang="en-US" sz="16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40080" y="2286000"/>
          <a:ext cx="72237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Card"/>
          <p:cNvSpPr/>
          <p:nvPr/>
        </p:nvSpPr>
        <p:spPr>
          <a:xfrm>
            <a:off x="8412480" y="2103120"/>
            <a:ext cx="313639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41080" y="2240280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11.8 kg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2834640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Chars</a:t>
            </a:r>
            <a:endParaRPr lang="en-US" sz="1800" dirty="0"/>
          </a:p>
        </p:txBody>
      </p:sp>
      <p:sp>
        <p:nvSpPr>
          <p:cNvPr id="14" name="Card"/>
          <p:cNvSpPr/>
          <p:nvPr/>
        </p:nvSpPr>
        <p:spPr>
          <a:xfrm>
            <a:off x="8412480" y="3474720"/>
            <a:ext cx="313639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641080" y="3611880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 kg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8641080" y="4206240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</a:t>
            </a:r>
            <a:endParaRPr lang="en-US" sz="1800" dirty="0"/>
          </a:p>
        </p:txBody>
      </p:sp>
      <p:sp>
        <p:nvSpPr>
          <p:cNvPr id="17" name="Card"/>
          <p:cNvSpPr/>
          <p:nvPr/>
        </p:nvSpPr>
        <p:spPr>
          <a:xfrm>
            <a:off x="8412480" y="4846320"/>
            <a:ext cx="313639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641080" y="4983480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 kg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8641080" y="5577840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Heroin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Weapon recoveries rose in every quarter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13716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Weapons recovered in each quarter</a:t>
            </a:r>
            <a:endParaRPr lang="en-US" sz="1800" dirty="0"/>
          </a:p>
        </p:txBody>
      </p:sp>
      <p:sp>
        <p:nvSpPr>
          <p:cNvPr id="4" name="Key"/>
          <p:cNvSpPr/>
          <p:nvPr/>
        </p:nvSpPr>
        <p:spPr>
          <a:xfrm>
            <a:off x="640080" y="1984248"/>
            <a:ext cx="182880" cy="182880"/>
          </a:xfrm>
          <a:prstGeom prst="rect">
            <a:avLst/>
          </a:prstGeom>
          <a:solidFill>
            <a:srgbClr val="0F5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10744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Pistols</a:t>
            </a:r>
            <a:endParaRPr lang="en-US" sz="1600" dirty="0"/>
          </a:p>
        </p:txBody>
      </p:sp>
      <p:sp>
        <p:nvSpPr>
          <p:cNvPr id="6" name="Key"/>
          <p:cNvSpPr/>
          <p:nvPr/>
        </p:nvSpPr>
        <p:spPr>
          <a:xfrm>
            <a:off x="2217420" y="1984248"/>
            <a:ext cx="182880" cy="182880"/>
          </a:xfrm>
          <a:prstGeom prst="rect">
            <a:avLst/>
          </a:prstGeom>
          <a:solidFill>
            <a:srgbClr val="4C9F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491740" y="19202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Rifles</a:t>
            </a:r>
            <a:endParaRPr lang="en-US" sz="1600" dirty="0"/>
          </a:p>
        </p:txBody>
      </p:sp>
      <p:sp>
        <p:nvSpPr>
          <p:cNvPr id="8" name="Key"/>
          <p:cNvSpPr/>
          <p:nvPr/>
        </p:nvSpPr>
        <p:spPr>
          <a:xfrm>
            <a:off x="3680460" y="1984248"/>
            <a:ext cx="182880" cy="182880"/>
          </a:xfrm>
          <a:prstGeom prst="rect">
            <a:avLst/>
          </a:prstGeom>
          <a:solidFill>
            <a:srgbClr val="7C87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954780" y="19202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Kalashnikovs</a:t>
            </a:r>
            <a:endParaRPr lang="en-US" sz="16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40080" y="2286000"/>
          <a:ext cx="72237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Card"/>
          <p:cNvSpPr/>
          <p:nvPr/>
        </p:nvSpPr>
        <p:spPr>
          <a:xfrm>
            <a:off x="8412480" y="210312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41080" y="224028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+150%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301752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weapons, Jul–Sep against Jan–Mar</a:t>
            </a:r>
            <a:endParaRPr lang="en-US" sz="2000" dirty="0"/>
          </a:p>
        </p:txBody>
      </p:sp>
      <p:sp>
        <p:nvSpPr>
          <p:cNvPr id="14" name="Card"/>
          <p:cNvSpPr/>
          <p:nvPr/>
        </p:nvSpPr>
        <p:spPr>
          <a:xfrm>
            <a:off x="8412480" y="420624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641080" y="434340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→ 21 → 25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8641080" y="512064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of ammunition recovered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Mianwali arrests, Attock seizes, Bhakkar recovers weapons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13716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Nine-month results by district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91153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651760"/>
                <a:gridCol w="2679192"/>
                <a:gridCol w="26517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5F6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E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5F6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Offenders arrested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E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5F6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Narcotics seized (kg)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E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5F6A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Weapons recovered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E26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Mianwali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0F5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Attock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B9C0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0F5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Bhakkar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B9C0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0F5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D.G.Khan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B9C0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B9C0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B9C0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1E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Murree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B9C0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B9C0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B9C0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the force serves posts with no recorded result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13716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at the eight posts with no arrest, seizure or recovery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011680"/>
          <a:ext cx="72237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8412480" y="210312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41080" y="224028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of 16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301752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with nothing recorded in nine months</a:t>
            </a:r>
            <a:endParaRPr lang="en-US" sz="2000" dirty="0"/>
          </a:p>
        </p:txBody>
      </p:sp>
      <p:sp>
        <p:nvSpPr>
          <p:cNvPr id="8" name="Card"/>
          <p:cNvSpPr/>
          <p:nvPr/>
        </p:nvSpPr>
        <p:spPr>
          <a:xfrm>
            <a:off x="8412480" y="4206240"/>
            <a:ext cx="313639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41080" y="4343400"/>
            <a:ext cx="2679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171 of 355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5120640"/>
            <a:ext cx="2679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are posted at these eight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Daratang alone makes nearly half of all arrests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13716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Arrests at the leading posts, by quarter</a:t>
            </a:r>
            <a:endParaRPr lang="en-US" sz="1800" dirty="0"/>
          </a:p>
        </p:txBody>
      </p:sp>
      <p:sp>
        <p:nvSpPr>
          <p:cNvPr id="4" name="Key"/>
          <p:cNvSpPr/>
          <p:nvPr/>
        </p:nvSpPr>
        <p:spPr>
          <a:xfrm>
            <a:off x="640080" y="1984248"/>
            <a:ext cx="182880" cy="182880"/>
          </a:xfrm>
          <a:prstGeom prst="rect">
            <a:avLst/>
          </a:prstGeom>
          <a:solidFill>
            <a:srgbClr val="0F5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10744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</a:t>
            </a:r>
            <a:endParaRPr lang="en-US" sz="1600" dirty="0"/>
          </a:p>
        </p:txBody>
      </p:sp>
      <p:sp>
        <p:nvSpPr>
          <p:cNvPr id="6" name="Key"/>
          <p:cNvSpPr/>
          <p:nvPr/>
        </p:nvSpPr>
        <p:spPr>
          <a:xfrm>
            <a:off x="2217420" y="1984248"/>
            <a:ext cx="182880" cy="182880"/>
          </a:xfrm>
          <a:prstGeom prst="rect">
            <a:avLst/>
          </a:prstGeom>
          <a:solidFill>
            <a:srgbClr val="4C9F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491740" y="1920240"/>
            <a:ext cx="10744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Apr–Jun</a:t>
            </a:r>
            <a:endParaRPr lang="en-US" sz="1600" dirty="0"/>
          </a:p>
        </p:txBody>
      </p:sp>
      <p:sp>
        <p:nvSpPr>
          <p:cNvPr id="8" name="Key"/>
          <p:cNvSpPr/>
          <p:nvPr/>
        </p:nvSpPr>
        <p:spPr>
          <a:xfrm>
            <a:off x="3794760" y="1984248"/>
            <a:ext cx="182880" cy="182880"/>
          </a:xfrm>
          <a:prstGeom prst="rect">
            <a:avLst/>
          </a:prstGeom>
          <a:solidFill>
            <a:srgbClr val="7C87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069080" y="1920240"/>
            <a:ext cx="10744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Jul–Sep</a:t>
            </a:r>
            <a:endParaRPr lang="en-US" sz="16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40080" y="2286000"/>
          <a:ext cx="72237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Card"/>
          <p:cNvSpPr/>
          <p:nvPr/>
        </p:nvSpPr>
        <p:spPr>
          <a:xfrm>
            <a:off x="8412480" y="2103120"/>
            <a:ext cx="3136392" cy="3931920"/>
          </a:xfrm>
          <a:prstGeom prst="roundRect">
            <a:avLst>
              <a:gd name="adj" fmla="val 2332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41080" y="2240280"/>
            <a:ext cx="2679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 of 107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3200400"/>
            <a:ext cx="267919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arrests made at Daratang, the most in every quarter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Redeploy, equip and replicate: four priorities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137160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way forward for the coming quarter</a:t>
            </a:r>
            <a:endParaRPr lang="en-US" sz="1800" dirty="0"/>
          </a:p>
        </p:txBody>
      </p:sp>
      <p:sp>
        <p:nvSpPr>
          <p:cNvPr id="4" name="Card"/>
          <p:cNvSpPr/>
          <p:nvPr/>
        </p:nvSpPr>
        <p:spPr>
          <a:xfrm>
            <a:off x="640080" y="2103120"/>
            <a:ext cx="5272888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5" name="Number badge"/>
          <p:cNvSpPr/>
          <p:nvPr/>
        </p:nvSpPr>
        <p:spPr>
          <a:xfrm>
            <a:off x="914400" y="23774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331720"/>
            <a:ext cx="390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the eight silent posts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834640"/>
            <a:ext cx="3901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reporting, then reinforce or redeploy where nothing is recorded.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6278728" y="2103120"/>
            <a:ext cx="5272888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0" name="Number badge"/>
          <p:cNvSpPr/>
          <p:nvPr/>
        </p:nvSpPr>
        <p:spPr>
          <a:xfrm>
            <a:off x="6553048" y="23774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53048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21728" y="2331720"/>
            <a:ext cx="390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armour gap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421728" y="2834640"/>
            <a:ext cx="3901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jackets first at Shakardara and the two Attock posts.</a:t>
            </a:r>
            <a:endParaRPr lang="en-US" sz="2000" dirty="0"/>
          </a:p>
        </p:txBody>
      </p:sp>
      <p:sp>
        <p:nvSpPr>
          <p:cNvPr id="14" name="Card"/>
          <p:cNvSpPr/>
          <p:nvPr/>
        </p:nvSpPr>
        <p:spPr>
          <a:xfrm>
            <a:off x="640080" y="4297680"/>
            <a:ext cx="5272888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5" name="Number badge"/>
          <p:cNvSpPr/>
          <p:nvPr/>
        </p:nvSpPr>
        <p:spPr>
          <a:xfrm>
            <a:off x="914400" y="4572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4526280"/>
            <a:ext cx="390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 Murree and Attock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5029200"/>
            <a:ext cx="3901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boundary walls, vehicles and cameras at the six posts lacking them.</a:t>
            </a:r>
            <a:endParaRPr lang="en-US" sz="2000" dirty="0"/>
          </a:p>
        </p:txBody>
      </p:sp>
      <p:sp>
        <p:nvSpPr>
          <p:cNvPr id="19" name="Card"/>
          <p:cNvSpPr/>
          <p:nvPr/>
        </p:nvSpPr>
        <p:spPr>
          <a:xfrm>
            <a:off x="6278728" y="4297680"/>
            <a:ext cx="5272888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20" name="Number badge"/>
          <p:cNvSpPr/>
          <p:nvPr/>
        </p:nvSpPr>
        <p:spPr>
          <a:xfrm>
            <a:off x="6553048" y="4572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53048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7421728" y="4526280"/>
            <a:ext cx="390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Replicate Daratang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421728" y="5029200"/>
            <a:ext cx="3901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its methods at Qabool Khel and Kundal, its Mianwali neighbours.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unjab Police Executive">
  <a:themeElements>
    <a:clrScheme name="Punjab Police Executive">
      <a:dk1>
        <a:srgbClr val="1E2622"/>
      </a:dk1>
      <a:lt1>
        <a:srgbClr val="FFFFFF"/>
      </a:lt1>
      <a:dk2>
        <a:srgbClr val="0F5A3F"/>
      </a:dk2>
      <a:lt2>
        <a:srgbClr val="EEF4F0"/>
      </a:lt2>
      <a:accent1>
        <a:srgbClr val="1B7F5C"/>
      </a:accent1>
      <a:accent2>
        <a:srgbClr val="5DAA86"/>
      </a:accent2>
      <a:accent3>
        <a:srgbClr val="B9C0BC"/>
      </a:accent3>
      <a:accent4>
        <a:srgbClr val="C8372D"/>
      </a:accent4>
      <a:accent5>
        <a:srgbClr val="5F6A65"/>
      </a:accent5>
      <a:accent6>
        <a:srgbClr val="D9DEDB"/>
      </a:accent6>
      <a:hlink>
        <a:srgbClr val="1B7F5C"/>
      </a:hlink>
      <a:folHlink>
        <a:srgbClr val="5F6A65"/>
      </a:folHlink>
    </a:clrScheme>
    <a:fontScheme name="Punjab Police Executiv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Border Check Posts – Quarterly Review</dc:title>
  <dc:subject>PptxGenJS Presentation</dc:subject>
  <dc:creator>District Police</dc:creator>
  <cp:lastModifiedBy>District Police</cp:lastModifiedBy>
  <cp:revision>1</cp:revision>
  <dcterms:created xsi:type="dcterms:W3CDTF">2026-10-08T17:55:19Z</dcterms:created>
  <dcterms:modified xsi:type="dcterms:W3CDTF">2026-10-08T17:55:19Z</dcterms:modified>
</cp:coreProperties>
</file>