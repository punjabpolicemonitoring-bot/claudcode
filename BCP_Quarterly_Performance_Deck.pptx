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6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7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8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9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10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11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verview" id="{2e8af4ce-d4ee-c788-9f57-1f444213453b}">
          <p14:sldIdLst>
            <p14:sldId id="256"/>
            <p14:sldId id="257"/>
            <p14:sldId id="258"/>
          </p14:sldIdLst>
        </p14:section>
        <p14:section name="Trends" id="{94fcaaad-7603-2a03-49f1-de46140f51ba}">
          <p14:sldIdLst>
            <p14:sldId id="259"/>
            <p14:sldId id="260"/>
          </p14:sldIdLst>
        </p14:section>
        <p14:section name="Deployment versus results" id="{5bf79b77-deb5-f0aa-9375-0a0787c28e75}">
          <p14:sldIdLst>
            <p14:sldId id="261"/>
            <p14:sldId id="262"/>
            <p14:sldId id="263"/>
            <p14:sldId id="264"/>
            <p14:sldId id="265"/>
            <p14:sldId id="266"/>
          </p14:sldIdLst>
        </p14:section>
        <p14:section name="Resources and data" id="{e2f00274-a4a7-78ce-ff2e-8075234a0f38}">
          <p14:sldIdLst>
            <p14:sldId id="267"/>
            <p14:sldId id="268"/>
            <p14:sldId id="269"/>
          </p14:sldIdLst>
        </p14:section>
        <p14:section name="Next steps" id="{e1b68654-0385-6708-c7dc-5c05b0620876}">
          <p14:sldIdLst>
            <p14:sldId id="270"/>
            <p14:sldId id="271"/>
          </p14:sldIdLst>
        </p14:section>
        <p14:section name="Appendix" id="{39228c6f-d5c9-9ac0-fc09-1ee5a54857d1}">
          <p14:sldIdLst>
            <p14:sldId id="272"/>
            <p14:sldId id="27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Proclaimed offenders (PO)</c:v>
                </c:pt>
              </c:strCache>
            </c:strRef>
          </c:tx>
          <c:spPr>
            <a:solidFill>
              <a:srgbClr val="0B3D2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Q1  (39)</c:v>
                  </c:pt>
                  <c:pt idx="1">
                    <c:v>Q2  (35)</c:v>
                  </c:pt>
                  <c:pt idx="2">
                    <c:v>Q3  (33)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14</c:v>
                </c:pt>
                <c:pt idx="1">
                  <c:v>10</c:v>
                </c:pt>
                <c:pt idx="2">
                  <c:v>10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Court absconders (CA)</c:v>
                </c:pt>
              </c:strCache>
            </c:strRef>
          </c:tx>
          <c:spPr>
            <a:solidFill>
              <a:srgbClr val="197A5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Q1  (39)</c:v>
                  </c:pt>
                  <c:pt idx="1">
                    <c:v>Q2  (35)</c:v>
                  </c:pt>
                  <c:pt idx="2">
                    <c:v>Q3  (33)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9</c:v>
                </c:pt>
                <c:pt idx="1">
                  <c:v>7</c:v>
                </c:pt>
                <c:pt idx="2">
                  <c:v>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TOs</c:v>
                </c:pt>
              </c:strCache>
            </c:strRef>
          </c:tx>
          <c:spPr>
            <a:solidFill>
              <a:srgbClr val="A8DBC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Q1  (39)</c:v>
                  </c:pt>
                  <c:pt idx="1">
                    <c:v>Q2  (35)</c:v>
                  </c:pt>
                  <c:pt idx="2">
                    <c:v>Q3  (33)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16</c:v>
                </c:pt>
                <c:pt idx="1">
                  <c:v>18</c:v>
                </c:pt>
                <c:pt idx="2">
                  <c:v>15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200" u="none">
                  <a:solidFill>
                    <a:srgbClr val="FFFFFF"/>
                  </a:solidFill>
                  <a:latin typeface="+mn-lt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62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E6A64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B2620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Chars</c:v>
                </c:pt>
              </c:strCache>
            </c:strRef>
          </c:tx>
          <c:spPr>
            <a:solidFill>
              <a:srgbClr val="197A5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62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Q1  (1.6 kg)</c:v>
                  </c:pt>
                  <c:pt idx="1">
                    <c:v>Q2  (14.2 kg)</c:v>
                  </c:pt>
                  <c:pt idx="2">
                    <c:v>Q3  (4.0 kg)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0.5</c:v>
                </c:pt>
                <c:pt idx="1">
                  <c:v>8.9</c:v>
                </c:pt>
                <c:pt idx="2">
                  <c:v>2.4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ICE</c:v>
                </c:pt>
              </c:strCache>
            </c:strRef>
          </c:tx>
          <c:spPr>
            <a:solidFill>
              <a:srgbClr val="C8553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62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Q1  (1.6 kg)</c:v>
                  </c:pt>
                  <c:pt idx="1">
                    <c:v>Q2  (14.2 kg)</c:v>
                  </c:pt>
                  <c:pt idx="2">
                    <c:v>Q3  (4.0 kg)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1.1</c:v>
                </c:pt>
                <c:pt idx="1">
                  <c:v>3.3</c:v>
                </c:pt>
                <c:pt idx="2">
                  <c:v>1.6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Heroin</c:v>
                </c:pt>
              </c:strCache>
            </c:strRef>
          </c:tx>
          <c:spPr>
            <a:solidFill>
              <a:srgbClr val="0B3D2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62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Q1  (1.6 kg)</c:v>
                  </c:pt>
                  <c:pt idx="1">
                    <c:v>Q2  (14.2 kg)</c:v>
                  </c:pt>
                  <c:pt idx="2">
                    <c:v>Q3  (4.0 kg)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</c:v>
                </c:pt>
                <c:pt idx="1">
                  <c:v>2</c:v>
                </c:pt>
                <c:pt idx="2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B2620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6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62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E6A64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B2620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Pistols</c:v>
                </c:pt>
              </c:strCache>
            </c:strRef>
          </c:tx>
          <c:spPr>
            <a:solidFill>
              <a:srgbClr val="5E6A64"/>
            </a:solidFill>
            <a:effectLst/>
          </c:spPr>
          <c:invertIfNegative val="0"/>
          <c:dLbls>
            <c:numFmt formatCode="0;-0;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</c:v>
                </c:pt>
                <c:pt idx="1">
                  <c:v>1</c:v>
                </c:pt>
                <c:pt idx="2">
                  <c:v>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Rifles</c:v>
                </c:pt>
              </c:strCache>
            </c:strRef>
          </c:tx>
          <c:spPr>
            <a:solidFill>
              <a:srgbClr val="0B3D2E"/>
            </a:solidFill>
            <a:effectLst/>
          </c:spPr>
          <c:invertIfNegative val="0"/>
          <c:dLbls>
            <c:numFmt formatCode="0;-0;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K.Kove</c:v>
                </c:pt>
              </c:strCache>
            </c:strRef>
          </c:tx>
          <c:spPr>
            <a:solidFill>
              <a:srgbClr val="197A56"/>
            </a:solidFill>
            <a:effectLst/>
          </c:spPr>
          <c:invertIfNegative val="0"/>
          <c:dLbls>
            <c:numFmt formatCode="0;-0;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</c:v>
                </c:pt>
                <c:pt idx="1">
                  <c:v>2</c:v>
                </c:pt>
                <c:pt idx="2">
                  <c:v>0</c:v>
                </c:pt>
              </c:numCache>
            </c:numRef>
          </c:val>
        </c:ser>
        <c:dLbls>
          <c:numFmt formatCode="0;-0;;" sourceLinked="0"/>
          <c:txPr>
            <a:bodyPr/>
            <a:lstStyle/>
            <a:p>
              <a:pPr>
                <a:defRPr b="1" i="0" strike="noStrike" sz="1300" u="none">
                  <a:solidFill>
                    <a:srgbClr val="FFFFFF"/>
                  </a:solidFill>
                  <a:latin typeface="+mn-lt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62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E6A64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B2620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Arrests</c:v>
                </c:pt>
              </c:strCache>
            </c:strRef>
          </c:tx>
          <c:spPr>
            <a:solidFill>
              <a:srgbClr val="197A5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B262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Daratang (36)</c:v>
                  </c:pt>
                  <c:pt idx="1">
                    <c:v>Shakardara (20)</c:v>
                  </c:pt>
                  <c:pt idx="2">
                    <c:v>Chashma (25)</c:v>
                  </c:pt>
                  <c:pt idx="3">
                    <c:v>Bharmi Nawab (20)</c:v>
                  </c:pt>
                  <c:pt idx="4">
                    <c:v>Rohila Gharbi (34)</c:v>
                  </c:pt>
                  <c:pt idx="5">
                    <c:v>Pattan Kanial (20)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52</c:v>
                </c:pt>
                <c:pt idx="1">
                  <c:v>29</c:v>
                </c:pt>
                <c:pt idx="2">
                  <c:v>21</c:v>
                </c:pt>
                <c:pt idx="3">
                  <c:v>2</c:v>
                </c:pt>
                <c:pt idx="4">
                  <c:v>2</c:v>
                </c:pt>
                <c:pt idx="5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300" u="none">
                  <a:solidFill>
                    <a:srgbClr val="1B262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62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2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E6A64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Narcotics kg</c:v>
                </c:pt>
              </c:strCache>
            </c:strRef>
          </c:tx>
          <c:spPr>
            <a:solidFill>
              <a:srgbClr val="0B3D2E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B262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ACLC Jhari Kass (16)</c:v>
                  </c:pt>
                  <c:pt idx="1">
                    <c:v>ACLC Kotkay (13)</c:v>
                  </c:pt>
                  <c:pt idx="2">
                    <c:v>Daratang (36)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15.4</c:v>
                </c:pt>
                <c:pt idx="1">
                  <c:v>3.9</c:v>
                </c:pt>
                <c:pt idx="2">
                  <c:v>0.5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1" i="0" strike="noStrike" sz="1300" u="none">
                  <a:solidFill>
                    <a:srgbClr val="1B262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62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9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E6A64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Personnel</c:v>
                </c:pt>
              </c:strCache>
            </c:strRef>
          </c:tx>
          <c:spPr>
            <a:solidFill>
              <a:srgbClr val="C9D3CD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262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Mianwali</c:v>
                  </c:pt>
                  <c:pt idx="1">
                    <c:v>D.G. Khan</c:v>
                  </c:pt>
                  <c:pt idx="2">
                    <c:v>Bhakkar</c:v>
                  </c:pt>
                  <c:pt idx="3">
                    <c:v>Attock</c:v>
                  </c:pt>
                  <c:pt idx="4">
                    <c:v>Murree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43</c:v>
                </c:pt>
                <c:pt idx="1">
                  <c:v>22</c:v>
                </c:pt>
                <c:pt idx="2">
                  <c:v>21</c:v>
                </c:pt>
                <c:pt idx="3">
                  <c:v>8</c:v>
                </c:pt>
                <c:pt idx="4">
                  <c:v>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Arrests</c:v>
                </c:pt>
              </c:strCache>
            </c:strRef>
          </c:tx>
          <c:spPr>
            <a:solidFill>
              <a:srgbClr val="197A56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262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Mianwali</c:v>
                  </c:pt>
                  <c:pt idx="1">
                    <c:v>D.G. Khan</c:v>
                  </c:pt>
                  <c:pt idx="2">
                    <c:v>Bhakkar</c:v>
                  </c:pt>
                  <c:pt idx="3">
                    <c:v>Attock</c:v>
                  </c:pt>
                  <c:pt idx="4">
                    <c:v>Murree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95</c:v>
                </c:pt>
                <c:pt idx="1">
                  <c:v>0</c:v>
                </c:pt>
                <c:pt idx="2">
                  <c:v>5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Narcotics (kg)</c:v>
                </c:pt>
              </c:strCache>
            </c:strRef>
          </c:tx>
          <c:spPr>
            <a:solidFill>
              <a:srgbClr val="0B3D2E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262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Mianwali</c:v>
                  </c:pt>
                  <c:pt idx="1">
                    <c:v>D.G. Khan</c:v>
                  </c:pt>
                  <c:pt idx="2">
                    <c:v>Bhakkar</c:v>
                  </c:pt>
                  <c:pt idx="3">
                    <c:v>Attock</c:v>
                  </c:pt>
                  <c:pt idx="4">
                    <c:v>Murree</c:v>
                  </c:pt>
                </c:lvl>
              </c:multiLvlStrCache>
            </c:multiLvl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3</c:v>
                </c:pt>
                <c:pt idx="1">
                  <c:v>0</c:v>
                </c:pt>
                <c:pt idx="2">
                  <c:v>0</c:v>
                </c:pt>
                <c:pt idx="3">
                  <c:v>97</c:v>
                </c:pt>
                <c:pt idx="4">
                  <c:v>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Weapons</c:v>
                </c:pt>
              </c:strCache>
            </c:strRef>
          </c:tx>
          <c:spPr>
            <a:solidFill>
              <a:srgbClr val="C8553D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262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Mianwali</c:v>
                  </c:pt>
                  <c:pt idx="1">
                    <c:v>D.G. Khan</c:v>
                  </c:pt>
                  <c:pt idx="2">
                    <c:v>Bhakkar</c:v>
                  </c:pt>
                  <c:pt idx="3">
                    <c:v>Attock</c:v>
                  </c:pt>
                  <c:pt idx="4">
                    <c:v>Murree</c:v>
                  </c:pt>
                </c:lvl>
              </c:multiLvlStrCache>
            </c:multiLvl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15</c:v>
                </c:pt>
                <c:pt idx="1">
                  <c:v>0</c:v>
                </c:pt>
                <c:pt idx="2">
                  <c:v>80</c:v>
                </c:pt>
                <c:pt idx="3">
                  <c:v>5</c:v>
                </c:pt>
                <c:pt idx="4">
                  <c:v>0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1000" u="none">
                  <a:solidFill>
                    <a:srgbClr val="1B262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62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E6A64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B2620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Elite force</c:v>
                </c:pt>
              </c:strCache>
            </c:strRef>
          </c:tx>
          <c:spPr>
            <a:solidFill>
              <a:srgbClr val="0B3D2E"/>
            </a:solidFill>
            <a:effectLst/>
          </c:spPr>
          <c:invertIfNegative val="0"/>
          <c:dLbls>
            <c:numFmt formatCode="0;-0;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Lakhani (D.G. Khan)</c:v>
                  </c:pt>
                  <c:pt idx="1">
                    <c:v>Qabool Khel (Mianwali)</c:v>
                  </c:pt>
                  <c:pt idx="2">
                    <c:v>Kundal (Mianwali)</c:v>
                  </c:pt>
                  <c:pt idx="3">
                    <c:v>Jhangi (D.G. Khan)</c:v>
                  </c:pt>
                  <c:pt idx="4">
                    <c:v>Barian</c:v>
                  </c:pt>
                  <c:pt idx="5">
                    <c:v>Ghora Gali</c:v>
                  </c:pt>
                  <c:pt idx="6">
                    <c:v>Upper Dewal</c:v>
                  </c:pt>
                  <c:pt idx="7">
                    <c:v>Lower Dewal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31</c:v>
                </c:pt>
                <c:pt idx="1">
                  <c:v>23</c:v>
                </c:pt>
                <c:pt idx="2">
                  <c:v>8</c:v>
                </c:pt>
                <c:pt idx="3">
                  <c:v>17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Police</c:v>
                </c:pt>
              </c:strCache>
            </c:strRef>
          </c:tx>
          <c:spPr>
            <a:solidFill>
              <a:srgbClr val="5E6A64"/>
            </a:solidFill>
            <a:effectLst/>
          </c:spPr>
          <c:invertIfNegative val="0"/>
          <c:dLbls>
            <c:numFmt formatCode="0;-0;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Lakhani (D.G. Khan)</c:v>
                  </c:pt>
                  <c:pt idx="1">
                    <c:v>Qabool Khel (Mianwali)</c:v>
                  </c:pt>
                  <c:pt idx="2">
                    <c:v>Kundal (Mianwali)</c:v>
                  </c:pt>
                  <c:pt idx="3">
                    <c:v>Jhangi (D.G. Khan)</c:v>
                  </c:pt>
                  <c:pt idx="4">
                    <c:v>Barian</c:v>
                  </c:pt>
                  <c:pt idx="5">
                    <c:v>Ghora Gali</c:v>
                  </c:pt>
                  <c:pt idx="6">
                    <c:v>Upper Dewal</c:v>
                  </c:pt>
                  <c:pt idx="7">
                    <c:v>Lower Dewal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17</c:v>
                </c:pt>
                <c:pt idx="1">
                  <c:v>14</c:v>
                </c:pt>
                <c:pt idx="2">
                  <c:v>28</c:v>
                </c:pt>
                <c:pt idx="3">
                  <c:v>13</c:v>
                </c:pt>
                <c:pt idx="4">
                  <c:v>5</c:v>
                </c:pt>
                <c:pt idx="5">
                  <c:v>5</c:v>
                </c:pt>
                <c:pt idx="6">
                  <c:v>5</c:v>
                </c:pt>
                <c:pt idx="7">
                  <c:v>5</c:v>
                </c:pt>
              </c:numCache>
            </c:numRef>
          </c:val>
        </c:ser>
        <c:dLbls>
          <c:numFmt formatCode="0;-0;;" sourceLinked="0"/>
          <c:txPr>
            <a:bodyPr/>
            <a:lstStyle/>
            <a:p>
              <a:pPr>
                <a:defRPr b="1" i="0" strike="noStrike" sz="1200" u="none">
                  <a:solidFill>
                    <a:srgbClr val="FFFFFF"/>
                  </a:solidFill>
                  <a:latin typeface="+mn-lt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10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62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E6A64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B2620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Elite force</c:v>
                </c:pt>
              </c:strCache>
            </c:strRef>
          </c:tx>
          <c:spPr>
            <a:solidFill>
              <a:srgbClr val="0B3D2E"/>
            </a:solidFill>
            <a:effectLst/>
          </c:spPr>
          <c:invertIfNegative val="0"/>
          <c:dLbls>
            <c:numFmt formatCode="0;-0;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Sheet1!$A$2:$A$17</c:f>
              <c:multiLvlStrCache>
                <c:ptCount val="16"/>
                <c:lvl>
                  <c:pt idx="0">
                    <c:v>Lakhani</c:v>
                  </c:pt>
                  <c:pt idx="1">
                    <c:v>Qabool Khel</c:v>
                  </c:pt>
                  <c:pt idx="2">
                    <c:v>Daratang</c:v>
                  </c:pt>
                  <c:pt idx="3">
                    <c:v>Jhangi</c:v>
                  </c:pt>
                  <c:pt idx="4">
                    <c:v>Chashma</c:v>
                  </c:pt>
                  <c:pt idx="5">
                    <c:v>Kundal</c:v>
                  </c:pt>
                  <c:pt idx="6">
                    <c:v>Shakardara</c:v>
                  </c:pt>
                  <c:pt idx="7">
                    <c:v>Rohila Gharbi</c:v>
                  </c:pt>
                  <c:pt idx="8">
                    <c:v>ACLC Jhari Kass</c:v>
                  </c:pt>
                  <c:pt idx="9">
                    <c:v>ACLC Kotkay</c:v>
                  </c:pt>
                  <c:pt idx="10">
                    <c:v>Bharmi Nawab</c:v>
                  </c:pt>
                  <c:pt idx="11">
                    <c:v>Pattan Kanial</c:v>
                  </c:pt>
                  <c:pt idx="12">
                    <c:v>Barian</c:v>
                  </c:pt>
                  <c:pt idx="13">
                    <c:v>Ghora Gali</c:v>
                  </c:pt>
                  <c:pt idx="14">
                    <c:v>Upper Dewal</c:v>
                  </c:pt>
                  <c:pt idx="15">
                    <c:v>Lower Dewal</c:v>
                  </c:pt>
                </c:lvl>
              </c:multiLvlStrCache>
            </c:multiLvlStrRef>
          </c:cat>
          <c:val>
            <c:numRef>
              <c:f>Sheet1!$B$2:$B$17</c:f>
              <c:numCache>
                <c:formatCode>General</c:formatCode>
                <c:ptCount val="16"/>
                <c:pt idx="0">
                  <c:v>31</c:v>
                </c:pt>
                <c:pt idx="1">
                  <c:v>23</c:v>
                </c:pt>
                <c:pt idx="2">
                  <c:v>18</c:v>
                </c:pt>
                <c:pt idx="3">
                  <c:v>17</c:v>
                </c:pt>
                <c:pt idx="4">
                  <c:v>9</c:v>
                </c:pt>
                <c:pt idx="5">
                  <c:v>8</c:v>
                </c:pt>
                <c:pt idx="6">
                  <c:v>8</c:v>
                </c:pt>
                <c:pt idx="7">
                  <c:v>7</c:v>
                </c:pt>
                <c:pt idx="8">
                  <c:v>6</c:v>
                </c:pt>
                <c:pt idx="9">
                  <c:v>6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Regular police</c:v>
                </c:pt>
              </c:strCache>
            </c:strRef>
          </c:tx>
          <c:spPr>
            <a:solidFill>
              <a:srgbClr val="5E6A64"/>
            </a:solidFill>
            <a:effectLst/>
          </c:spPr>
          <c:invertIfNegative val="0"/>
          <c:dLbls>
            <c:numFmt formatCode="0;-0;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Sheet1!$A$2:$A$17</c:f>
              <c:multiLvlStrCache>
                <c:ptCount val="16"/>
                <c:lvl>
                  <c:pt idx="0">
                    <c:v>Lakhani</c:v>
                  </c:pt>
                  <c:pt idx="1">
                    <c:v>Qabool Khel</c:v>
                  </c:pt>
                  <c:pt idx="2">
                    <c:v>Daratang</c:v>
                  </c:pt>
                  <c:pt idx="3">
                    <c:v>Jhangi</c:v>
                  </c:pt>
                  <c:pt idx="4">
                    <c:v>Chashma</c:v>
                  </c:pt>
                  <c:pt idx="5">
                    <c:v>Kundal</c:v>
                  </c:pt>
                  <c:pt idx="6">
                    <c:v>Shakardara</c:v>
                  </c:pt>
                  <c:pt idx="7">
                    <c:v>Rohila Gharbi</c:v>
                  </c:pt>
                  <c:pt idx="8">
                    <c:v>ACLC Jhari Kass</c:v>
                  </c:pt>
                  <c:pt idx="9">
                    <c:v>ACLC Kotkay</c:v>
                  </c:pt>
                  <c:pt idx="10">
                    <c:v>Bharmi Nawab</c:v>
                  </c:pt>
                  <c:pt idx="11">
                    <c:v>Pattan Kanial</c:v>
                  </c:pt>
                  <c:pt idx="12">
                    <c:v>Barian</c:v>
                  </c:pt>
                  <c:pt idx="13">
                    <c:v>Ghora Gali</c:v>
                  </c:pt>
                  <c:pt idx="14">
                    <c:v>Upper Dewal</c:v>
                  </c:pt>
                  <c:pt idx="15">
                    <c:v>Lower Dewal</c:v>
                  </c:pt>
                </c:lvl>
              </c:multiLvlStrCache>
            </c:multiLvl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17</c:v>
                </c:pt>
                <c:pt idx="1">
                  <c:v>14</c:v>
                </c:pt>
                <c:pt idx="2">
                  <c:v>18</c:v>
                </c:pt>
                <c:pt idx="3">
                  <c:v>13</c:v>
                </c:pt>
                <c:pt idx="4">
                  <c:v>16</c:v>
                </c:pt>
                <c:pt idx="5">
                  <c:v>28</c:v>
                </c:pt>
                <c:pt idx="6">
                  <c:v>12</c:v>
                </c:pt>
                <c:pt idx="7">
                  <c:v>27</c:v>
                </c:pt>
                <c:pt idx="8">
                  <c:v>10</c:v>
                </c:pt>
                <c:pt idx="9">
                  <c:v>7</c:v>
                </c:pt>
                <c:pt idx="10">
                  <c:v>20</c:v>
                </c:pt>
                <c:pt idx="11">
                  <c:v>20</c:v>
                </c:pt>
                <c:pt idx="12">
                  <c:v>5</c:v>
                </c:pt>
                <c:pt idx="13">
                  <c:v>5</c:v>
                </c:pt>
                <c:pt idx="14">
                  <c:v>5</c:v>
                </c:pt>
                <c:pt idx="15">
                  <c:v>5</c:v>
                </c:pt>
              </c:numCache>
            </c:numRef>
          </c:val>
        </c:ser>
        <c:dLbls>
          <c:numFmt formatCode="0;-0;;" sourceLinked="0"/>
          <c:txPr>
            <a:bodyPr/>
            <a:lstStyle/>
            <a:p>
              <a:pPr>
                <a:defRPr b="0" i="0" strike="noStrike" sz="1000" u="none">
                  <a:solidFill>
                    <a:srgbClr val="FFFFFF"/>
                  </a:solidFill>
                  <a:latin typeface="+mn-lt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0"/>
        <c:overlap val="10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B262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E6A64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B2620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Personnel per point-shift</c:v>
                </c:pt>
              </c:strCache>
            </c:strRef>
          </c:tx>
          <c:spPr>
            <a:solidFill>
              <a:srgbClr val="197A56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62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Sheet1!$A$2:$A$17</c:f>
              <c:multiLvlStrCache>
                <c:ptCount val="16"/>
                <c:lvl>
                  <c:pt idx="0">
                    <c:v>Chashma</c:v>
                  </c:pt>
                  <c:pt idx="1">
                    <c:v>Kundal</c:v>
                  </c:pt>
                  <c:pt idx="2">
                    <c:v>Shakardara</c:v>
                  </c:pt>
                  <c:pt idx="3">
                    <c:v>Daratang</c:v>
                  </c:pt>
                  <c:pt idx="4">
                    <c:v>Lakhani</c:v>
                  </c:pt>
                  <c:pt idx="5">
                    <c:v>Rohila Gharbi</c:v>
                  </c:pt>
                  <c:pt idx="6">
                    <c:v>Qabool Khel</c:v>
                  </c:pt>
                  <c:pt idx="7">
                    <c:v>ACLC Jhari Kass</c:v>
                  </c:pt>
                  <c:pt idx="8">
                    <c:v>Barian</c:v>
                  </c:pt>
                  <c:pt idx="9">
                    <c:v>Ghora Gali</c:v>
                  </c:pt>
                  <c:pt idx="10">
                    <c:v>Upper Dewal</c:v>
                  </c:pt>
                  <c:pt idx="11">
                    <c:v>Lower Dewal</c:v>
                  </c:pt>
                  <c:pt idx="12">
                    <c:v>Jhangi</c:v>
                  </c:pt>
                  <c:pt idx="13">
                    <c:v>Bharmi Nawab</c:v>
                  </c:pt>
                  <c:pt idx="14">
                    <c:v>Pattan Kanial</c:v>
                  </c:pt>
                  <c:pt idx="15">
                    <c:v>ACLC Kotkay</c:v>
                  </c:pt>
                </c:lvl>
              </c:multiLvlStrCache>
            </c:multiLvlStrRef>
          </c:cat>
          <c:val>
            <c:numRef>
              <c:f>Sheet1!$B$2:$B$17</c:f>
              <c:numCache>
                <c:formatCode>General</c:formatCode>
                <c:ptCount val="16"/>
                <c:pt idx="0">
                  <c:v>12.5</c:v>
                </c:pt>
                <c:pt idx="1">
                  <c:v>12</c:v>
                </c:pt>
                <c:pt idx="2">
                  <c:v>5</c:v>
                </c:pt>
                <c:pt idx="3">
                  <c:v>4.5</c:v>
                </c:pt>
                <c:pt idx="4">
                  <c:v>4</c:v>
                </c:pt>
                <c:pt idx="5">
                  <c:v>3.8</c:v>
                </c:pt>
                <c:pt idx="6">
                  <c:v>3.1</c:v>
                </c:pt>
                <c:pt idx="7">
                  <c:v>2.7</c:v>
                </c:pt>
                <c:pt idx="8">
                  <c:v>2.5</c:v>
                </c:pt>
                <c:pt idx="9">
                  <c:v>2.5</c:v>
                </c:pt>
                <c:pt idx="10">
                  <c:v>2.5</c:v>
                </c:pt>
                <c:pt idx="11">
                  <c:v>2.5</c:v>
                </c:pt>
                <c:pt idx="12">
                  <c:v>2.5</c:v>
                </c:pt>
                <c:pt idx="13">
                  <c:v>2.2</c:v>
                </c:pt>
                <c:pt idx="14">
                  <c:v>2.2</c:v>
                </c:pt>
                <c:pt idx="15">
                  <c:v>2.2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1B262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B262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5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E6A64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Jackets per person</c:v>
                </c:pt>
              </c:strCache>
            </c:strRef>
          </c:tx>
          <c:spPr>
            <a:solidFill>
              <a:srgbClr val="C8553D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B262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Shakardara (20)</c:v>
                  </c:pt>
                  <c:pt idx="1">
                    <c:v>ACLC Jhari Kass (16)</c:v>
                  </c:pt>
                  <c:pt idx="2">
                    <c:v>ACLC Kotkay (13)</c:v>
                  </c:pt>
                  <c:pt idx="3">
                    <c:v>Kundal (36)</c:v>
                  </c:pt>
                  <c:pt idx="4">
                    <c:v>Pattan Kanial (20)</c:v>
                  </c:pt>
                  <c:pt idx="5">
                    <c:v>Rohila Gharbi (34)</c:v>
                  </c:pt>
                  <c:pt idx="6">
                    <c:v>Chashma (25)</c:v>
                  </c:pt>
                  <c:pt idx="7">
                    <c:v>Daratang (36)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10</c:v>
                </c:pt>
                <c:pt idx="1">
                  <c:v>38</c:v>
                </c:pt>
                <c:pt idx="2">
                  <c:v>46</c:v>
                </c:pt>
                <c:pt idx="3">
                  <c:v>47</c:v>
                </c:pt>
                <c:pt idx="4">
                  <c:v>50</c:v>
                </c:pt>
                <c:pt idx="5">
                  <c:v>59</c:v>
                </c:pt>
                <c:pt idx="6">
                  <c:v>68</c:v>
                </c:pt>
                <c:pt idx="7">
                  <c:v>69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B262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62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E6A64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Cameras installed</c:v>
                </c:pt>
              </c:strCache>
            </c:strRef>
          </c:tx>
          <c:spPr>
            <a:solidFill>
              <a:srgbClr val="C8553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1B262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8553D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97A5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97A5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C8553D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97A56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C8553D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197A56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C8553D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197A56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197A56"/>
              </a:solidFill>
              <a:effectLst/>
            </c:spPr>
          </c:dPt>
          <c:dPt>
            <c:idx val="10"/>
            <c:invertIfNegative val="0"/>
            <c:bubble3D val="0"/>
            <c:spPr>
              <a:solidFill>
                <a:srgbClr val="197A56"/>
              </a:solidFill>
              <a:effectLst/>
            </c:spPr>
          </c:dPt>
          <c:dPt>
            <c:idx val="11"/>
            <c:invertIfNegative val="0"/>
            <c:bubble3D val="0"/>
            <c:spPr>
              <a:solidFill>
                <a:srgbClr val="197A56"/>
              </a:solidFill>
              <a:effectLst/>
            </c:spPr>
          </c:dPt>
          <c:dPt>
            <c:idx val="12"/>
            <c:invertIfNegative val="0"/>
            <c:bubble3D val="0"/>
            <c:spPr>
              <a:solidFill>
                <a:srgbClr val="197A56"/>
              </a:solidFill>
              <a:effectLst/>
            </c:spPr>
          </c:dPt>
          <c:cat>
            <c:multiLvlStrRef>
              <c:f>Sheet1!$A$2:$A$14</c:f>
              <c:multiLvlStrCache>
                <c:ptCount val="13"/>
                <c:lvl>
                  <c:pt idx="0">
                    <c:v>Lakhani</c:v>
                  </c:pt>
                  <c:pt idx="1">
                    <c:v>Bharmi Nawab</c:v>
                  </c:pt>
                  <c:pt idx="2">
                    <c:v>Pattan Kanial</c:v>
                  </c:pt>
                  <c:pt idx="3">
                    <c:v>Jhangi</c:v>
                  </c:pt>
                  <c:pt idx="4">
                    <c:v>Shakardara</c:v>
                  </c:pt>
                  <c:pt idx="5">
                    <c:v>Qabool Khel</c:v>
                  </c:pt>
                  <c:pt idx="6">
                    <c:v>Daratang</c:v>
                  </c:pt>
                  <c:pt idx="7">
                    <c:v>Kundal</c:v>
                  </c:pt>
                  <c:pt idx="8">
                    <c:v>Rohila Gharbi</c:v>
                  </c:pt>
                  <c:pt idx="9">
                    <c:v>Chashma</c:v>
                  </c:pt>
                  <c:pt idx="10">
                    <c:v>ACLC Jhari Kass</c:v>
                  </c:pt>
                  <c:pt idx="11">
                    <c:v>ACLC Kotkay</c:v>
                  </c:pt>
                  <c:pt idx="12">
                    <c:v>Barian</c:v>
                  </c:pt>
                </c:lvl>
              </c:multiLvlStrCache>
            </c:multiLvl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13</c:v>
                </c:pt>
                <c:pt idx="1">
                  <c:v>12</c:v>
                </c:pt>
                <c:pt idx="2">
                  <c:v>12</c:v>
                </c:pt>
                <c:pt idx="3">
                  <c:v>12</c:v>
                </c:pt>
                <c:pt idx="4">
                  <c:v>8</c:v>
                </c:pt>
                <c:pt idx="5">
                  <c:v>8</c:v>
                </c:pt>
                <c:pt idx="6">
                  <c:v>8</c:v>
                </c:pt>
                <c:pt idx="7">
                  <c:v>8</c:v>
                </c:pt>
                <c:pt idx="8">
                  <c:v>8</c:v>
                </c:pt>
                <c:pt idx="9">
                  <c:v>7</c:v>
                </c:pt>
                <c:pt idx="10">
                  <c:v>5</c:v>
                </c:pt>
                <c:pt idx="11">
                  <c:v>2</c:v>
                </c:pt>
                <c:pt idx="12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200" u="none">
                  <a:solidFill>
                    <a:srgbClr val="1B262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B262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6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E6A64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quarterly_performanc_of_JCP__BCP.xlsx, sheet 'Border Posts'. Q1 = 1 Jan-31 Mar, Q2 = 1 Apr-30 Jun, Q3 = 1 Jul-30 Sep 2026.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Arrests: PO 14,10,10; CA 9,7,8; TO 16,18,15. Narcotics: 1.62, 14.22, 4.04 kg.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Output index within BCP: share of the 107 arrests, 19.9 kg narcotics and 20 weapons, averaged. Average post = 22.2 personnel, index 6.3.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0B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2011680"/>
            <a:ext cx="969264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22960" y="3931920"/>
            <a:ext cx="969264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accent3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Border Check Posts  |  Performance review, Q1–Q3 2026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65760"/>
            <a:ext cx="11091672" cy="9601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chart" Target="/ppt/charts/chart5.xml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9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0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2011680"/>
            <a:ext cx="9692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Border Check Posts: performance review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22960" y="3931920"/>
            <a:ext cx="9692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3"/>
                </a:solidFill>
              </a:rPr>
              <a:t>January–September 2026  |  16 posts in 5 districts, three quarters of results, with insights and recommendations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Executive summary: border-post output is thin, flat and concentrated, while 43% of staff sit at four silent posts</a:t>
            </a:r>
            <a:endParaRPr lang="en-US" sz="2600" dirty="0"/>
          </a:p>
        </p:txBody>
      </p:sp>
      <p:sp>
        <p:nvSpPr>
          <p:cNvPr id="3" name="Marker 1"/>
          <p:cNvSpPr/>
          <p:nvPr/>
        </p:nvSpPr>
        <p:spPr>
          <a:xfrm>
            <a:off x="548640" y="164592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1600200"/>
            <a:ext cx="4480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Output is thin and flat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5897880" y="1600200"/>
            <a:ext cx="57424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107 arrests (39, 35, 33) and 19.9 kg of narcotics from 355 personnel: 0.30 arrests per person, against 3.6 at joint posts.</a:t>
            </a:r>
            <a:endParaRPr lang="en-US" sz="1400" dirty="0"/>
          </a:p>
        </p:txBody>
      </p:sp>
      <p:sp>
        <p:nvSpPr>
          <p:cNvPr id="7" name="Marker 2"/>
          <p:cNvSpPr/>
          <p:nvPr/>
        </p:nvSpPr>
        <p:spPr>
          <a:xfrm>
            <a:off x="548640" y="2532888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5328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280160" y="2487168"/>
            <a:ext cx="4480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Mianwali posts make 95% of arrests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5897880" y="2487168"/>
            <a:ext cx="57424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Daratang 52, Shakardara 29, Chashma 21, with 23% of personnel.</a:t>
            </a:r>
            <a:endParaRPr lang="en-US" sz="1400" dirty="0"/>
          </a:p>
        </p:txBody>
      </p:sp>
      <p:sp>
        <p:nvSpPr>
          <p:cNvPr id="11" name="Marker 3"/>
          <p:cNvSpPr/>
          <p:nvPr/>
        </p:nvSpPr>
        <p:spPr>
          <a:xfrm>
            <a:off x="548640" y="3419856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34198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280160" y="3374136"/>
            <a:ext cx="4480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Attock’s two ACLC posts hold the narcotics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5897880" y="3374136"/>
            <a:ext cx="57424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19.4 of 19.9 kg (97%) with 8% of personnel, and no arrests at either post.</a:t>
            </a:r>
            <a:endParaRPr lang="en-US" sz="1400" dirty="0"/>
          </a:p>
        </p:txBody>
      </p:sp>
      <p:sp>
        <p:nvSpPr>
          <p:cNvPr id="15" name="Marker 4"/>
          <p:cNvSpPr/>
          <p:nvPr/>
        </p:nvSpPr>
        <p:spPr>
          <a:xfrm>
            <a:off x="548640" y="4306824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43068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280160" y="4261104"/>
            <a:ext cx="4480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Weapons recovery is the growth line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5897880" y="4261104"/>
            <a:ext cx="57424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4, 6, 10 a quarter. Bhakkar’s three posts made 16 of 20; Rohila Gharbi alone made 10, including 7 rifles.</a:t>
            </a:r>
            <a:endParaRPr lang="en-US" sz="1400" dirty="0"/>
          </a:p>
        </p:txBody>
      </p:sp>
      <p:sp>
        <p:nvSpPr>
          <p:cNvPr id="19" name="Marker 5"/>
          <p:cNvSpPr/>
          <p:nvPr/>
        </p:nvSpPr>
        <p:spPr>
          <a:xfrm>
            <a:off x="548640" y="5193792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8640" y="51937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280160" y="5148072"/>
            <a:ext cx="4480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heavy posts report nothing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5897880" y="5148072"/>
            <a:ext cx="57424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Qabool Khel, Kundal, Jhangi, Lakhani hold 151 personnel (43%) and 79 of 133 elite. Eight posts in all report no output.</a:t>
            </a:r>
            <a:endParaRPr lang="en-US" sz="1400" dirty="0"/>
          </a:p>
        </p:txBody>
      </p:sp>
      <p:sp>
        <p:nvSpPr>
          <p:cNvPr id="23" name="Source note"/>
          <p:cNvSpPr txBox="1"/>
          <p:nvPr/>
        </p:nvSpPr>
        <p:spPr>
          <a:xfrm>
            <a:off x="548640" y="605332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Source: Quarterly performance workbook, Border Posts sheet, 1 Jan–30 Sep 2026; team analysis.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At a glance: 355 police at 16 border posts made 107 arrests and seized 20 kg of narcotics in nine months</a:t>
            </a:r>
            <a:endParaRPr lang="en-US" sz="2600" dirty="0"/>
          </a:p>
        </p:txBody>
      </p:sp>
      <p:sp>
        <p:nvSpPr>
          <p:cNvPr id="3" name="Card 1"/>
          <p:cNvSpPr/>
          <p:nvPr/>
        </p:nvSpPr>
        <p:spPr>
          <a:xfrm>
            <a:off x="548640" y="1691640"/>
            <a:ext cx="3520440" cy="17830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87452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715768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border check posts in 5 districts; Mianwali has 5</a:t>
            </a:r>
            <a:endParaRPr lang="en-US" sz="1400" dirty="0"/>
          </a:p>
        </p:txBody>
      </p:sp>
      <p:sp>
        <p:nvSpPr>
          <p:cNvPr id="6" name="Card 2"/>
          <p:cNvSpPr/>
          <p:nvPr/>
        </p:nvSpPr>
        <p:spPr>
          <a:xfrm>
            <a:off x="4297680" y="1691640"/>
            <a:ext cx="3520440" cy="17830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0" y="187452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355</a:t>
            </a:r>
            <a:endParaRPr lang="en-US" sz="4400" dirty="0"/>
          </a:p>
        </p:txBody>
      </p:sp>
      <p:sp>
        <p:nvSpPr>
          <p:cNvPr id="8" name="Text 6"/>
          <p:cNvSpPr txBox="1"/>
          <p:nvPr/>
        </p:nvSpPr>
        <p:spPr>
          <a:xfrm>
            <a:off x="4572000" y="2715768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police personnel deployed, of whom 133 (37%) are elite force</a:t>
            </a:r>
            <a:endParaRPr lang="en-US" sz="1400" dirty="0"/>
          </a:p>
        </p:txBody>
      </p:sp>
      <p:sp>
        <p:nvSpPr>
          <p:cNvPr id="9" name="Card 3"/>
          <p:cNvSpPr/>
          <p:nvPr/>
        </p:nvSpPr>
        <p:spPr>
          <a:xfrm>
            <a:off x="8046720" y="1691640"/>
            <a:ext cx="3520440" cy="17830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21040" y="187452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107</a:t>
            </a:r>
            <a:endParaRPr lang="en-US" sz="4400" dirty="0"/>
          </a:p>
        </p:txBody>
      </p:sp>
      <p:sp>
        <p:nvSpPr>
          <p:cNvPr id="11" name="Text 9"/>
          <p:cNvSpPr txBox="1"/>
          <p:nvPr/>
        </p:nvSpPr>
        <p:spPr>
          <a:xfrm>
            <a:off x="8321040" y="2715768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arrests: 49 TOs, 34 POs and 24 CAs; no Afghan nationals</a:t>
            </a:r>
            <a:endParaRPr lang="en-US" sz="1400" dirty="0"/>
          </a:p>
        </p:txBody>
      </p:sp>
      <p:sp>
        <p:nvSpPr>
          <p:cNvPr id="12" name="Card 4"/>
          <p:cNvSpPr/>
          <p:nvPr/>
        </p:nvSpPr>
        <p:spPr>
          <a:xfrm>
            <a:off x="548640" y="3703320"/>
            <a:ext cx="3520440" cy="17830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388620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19.9 kg</a:t>
            </a:r>
            <a:endParaRPr lang="en-US" sz="44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4727448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narcotics seized: 11.8 kg chars, 6.0 kg ICE, 2.0 kg heroin</a:t>
            </a:r>
            <a:endParaRPr lang="en-US" sz="1400" dirty="0"/>
          </a:p>
        </p:txBody>
      </p:sp>
      <p:sp>
        <p:nvSpPr>
          <p:cNvPr id="15" name="Card 5"/>
          <p:cNvSpPr/>
          <p:nvPr/>
        </p:nvSpPr>
        <p:spPr>
          <a:xfrm>
            <a:off x="4297680" y="3703320"/>
            <a:ext cx="3520440" cy="17830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0" y="388620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44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0" y="4727448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weapons recovered (10 rifles, 8 pistols, 2 K.Kove) and 58 rounds</a:t>
            </a:r>
            <a:endParaRPr lang="en-US" sz="1400" dirty="0"/>
          </a:p>
        </p:txBody>
      </p:sp>
      <p:sp>
        <p:nvSpPr>
          <p:cNvPr id="18" name="Card 6"/>
          <p:cNvSpPr/>
          <p:nvPr/>
        </p:nvSpPr>
        <p:spPr>
          <a:xfrm>
            <a:off x="8046720" y="3703320"/>
            <a:ext cx="3520440" cy="17830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321040" y="388620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4400" dirty="0"/>
          </a:p>
        </p:txBody>
      </p:sp>
      <p:sp>
        <p:nvSpPr>
          <p:cNvPr id="20" name="Text 18"/>
          <p:cNvSpPr txBox="1"/>
          <p:nvPr/>
        </p:nvSpPr>
        <p:spPr>
          <a:xfrm>
            <a:off x="8321040" y="4727448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posts with no output in nine months, holding 171 personnel</a:t>
            </a:r>
            <a:endParaRPr lang="en-US" sz="1400" dirty="0"/>
          </a:p>
        </p:txBody>
      </p:sp>
      <p:sp>
        <p:nvSpPr>
          <p:cNvPr id="21" name="Source note"/>
          <p:cNvSpPr txBox="1"/>
          <p:nvPr/>
        </p:nvSpPr>
        <p:spPr>
          <a:xfrm>
            <a:off x="548640" y="605332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Note: sheet totals were re-computed from post-level rows and reconcile for every column. “TOs” is not defined in the workbook.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Arrests drift down (39, 35, 33) while narcotics seizures spike in Q2 and fall back in Q3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54480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Arrests by category, number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874520"/>
          <a:ext cx="5486400" cy="4069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6309360" y="1554480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Narcotics seized by type, kg</a:t>
            </a:r>
            <a:endParaRPr lang="en-US" sz="1400" dirty="0"/>
          </a:p>
        </p:txBody>
      </p:sp>
      <p:graphicFrame>
        <p:nvGraphicFramePr>
          <p:cNvPr id="6" name="Chart 1" descr=""/>
          <p:cNvGraphicFramePr/>
          <p:nvPr/>
        </p:nvGraphicFramePr>
        <p:xfrm>
          <a:off x="6217920" y="1874520"/>
          <a:ext cx="5440680" cy="4069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Source note"/>
          <p:cNvSpPr txBox="1"/>
          <p:nvPr/>
        </p:nvSpPr>
        <p:spPr>
          <a:xfrm>
            <a:off x="548640" y="605332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ICE + heroin: 1.1 kg in Q1, 5.3 kg in Q2, 1.6 kg in Q3. Arrests per person: 0.11, 0.10, 0.09. No illegal Afghan arrests were reported at any border post. Column labels show quarter totals.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Weapons recovery is the one rising measure: 4 to 10 a quarter, led by Bhakkar’s three posts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5448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Weapons recovered by type, number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874520"/>
          <a:ext cx="5852160" cy="4069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tat weapons recovered Q1"/>
          <p:cNvSpPr txBox="1"/>
          <p:nvPr/>
        </p:nvSpPr>
        <p:spPr>
          <a:xfrm>
            <a:off x="6858000" y="169164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+150%</a:t>
            </a:r>
            <a:endParaRPr lang="en-US" sz="3600" dirty="0"/>
          </a:p>
        </p:txBody>
      </p:sp>
      <p:sp>
        <p:nvSpPr>
          <p:cNvPr id="6" name="Text 3"/>
          <p:cNvSpPr txBox="1"/>
          <p:nvPr/>
        </p:nvSpPr>
        <p:spPr>
          <a:xfrm>
            <a:off x="6858000" y="242316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weapons recovered Q1 to Q3 (4→10); rounds recovered also rose, 12, 21, 25</a:t>
            </a:r>
            <a:endParaRPr lang="en-US" sz="1400" dirty="0"/>
          </a:p>
        </p:txBody>
      </p:sp>
      <p:sp>
        <p:nvSpPr>
          <p:cNvPr id="7" name="Stat recoveries came from"/>
          <p:cNvSpPr txBox="1"/>
          <p:nvPr/>
        </p:nvSpPr>
        <p:spPr>
          <a:xfrm>
            <a:off x="6858000" y="320040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 of 20</a:t>
            </a:r>
            <a:endParaRPr lang="en-US" sz="3600" dirty="0"/>
          </a:p>
        </p:txBody>
      </p:sp>
      <p:sp>
        <p:nvSpPr>
          <p:cNvPr id="8" name="Text 5"/>
          <p:cNvSpPr txBox="1"/>
          <p:nvPr/>
        </p:nvSpPr>
        <p:spPr>
          <a:xfrm>
            <a:off x="6858000" y="393192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recoveries came from Bhakkar’s Pattan Kanial (4), Bharmi Nawab (2) and Rohila Gharbi (10)</a:t>
            </a:r>
            <a:endParaRPr lang="en-US" sz="1400" dirty="0"/>
          </a:p>
        </p:txBody>
      </p:sp>
      <p:sp>
        <p:nvSpPr>
          <p:cNvPr id="9" name="Stat all recovered at bor"/>
          <p:cNvSpPr txBox="1"/>
          <p:nvPr/>
        </p:nvSpPr>
        <p:spPr>
          <a:xfrm>
            <a:off x="6858000" y="470916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 rifles</a:t>
            </a:r>
            <a:endParaRPr lang="en-US" sz="3600" dirty="0"/>
          </a:p>
        </p:txBody>
      </p:sp>
      <p:sp>
        <p:nvSpPr>
          <p:cNvPr id="10" name="Text 7"/>
          <p:cNvSpPr txBox="1"/>
          <p:nvPr/>
        </p:nvSpPr>
        <p:spPr>
          <a:xfrm>
            <a:off x="6858000" y="544068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all recovered at border posts, 7 of them at Rohila Gharbi (1, 2, 4 by quarter)</a:t>
            </a:r>
            <a:endParaRPr lang="en-US" sz="1400" dirty="0"/>
          </a:p>
        </p:txBody>
      </p:sp>
      <p:sp>
        <p:nvSpPr>
          <p:cNvPr id="11" name="Source note"/>
          <p:cNvSpPr txBox="1"/>
          <p:nvPr/>
        </p:nvSpPr>
        <p:spPr>
          <a:xfrm>
            <a:off x="548640" y="605332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Weapons = pistols, rifles, pump-action guns and K.Kove; no pump-action guns were recovered. Bhakkar’s three posts have 74 personnel and made 5 arrests.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Three Mianwali posts make 95% of arrests, and two Attock posts make 97% of narcotics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54480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Arrests, all 6 posts with arrests (personnel in brackets)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874520"/>
          <a:ext cx="557784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6309360" y="155448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Narcotics, 3 posts with seizures, kg (personnel in brackets)</a:t>
            </a:r>
            <a:endParaRPr lang="en-US" sz="1400" dirty="0"/>
          </a:p>
        </p:txBody>
      </p:sp>
      <p:graphicFrame>
        <p:nvGraphicFramePr>
          <p:cNvPr id="6" name="Chart 1" descr=""/>
          <p:cNvGraphicFramePr/>
          <p:nvPr/>
        </p:nvGraphicFramePr>
        <p:xfrm>
          <a:off x="6217920" y="1874520"/>
          <a:ext cx="544068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Callout"/>
          <p:cNvSpPr/>
          <p:nvPr/>
        </p:nvSpPr>
        <p:spPr>
          <a:xfrm>
            <a:off x="548640" y="5349240"/>
            <a:ext cx="11091672" cy="6400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731520" y="5349240"/>
            <a:ext cx="10725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Implication: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Daratang, Shakardara and Chashma hold 81 of 355 personnel (23%); the two ACLC posts hold 29 (8%). Thirteen of 16 posts made 2 arrests or fewer.</a:t>
            </a:r>
            <a:endParaRPr lang="en-US" sz="1400" dirty="0"/>
          </a:p>
        </p:txBody>
      </p:sp>
      <p:sp>
        <p:nvSpPr>
          <p:cNvPr id="9" name="Source note"/>
          <p:cNvSpPr txBox="1"/>
          <p:nvPr/>
        </p:nvSpPr>
        <p:spPr>
          <a:xfrm>
            <a:off x="548640" y="6108192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Source: post-level totals, Jan–Sep 2026. Bharmi Nawab and Rohila Gharbi made 2 arrests each, Pattan Kanial 1.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Each district plays one role: Mianwali arrests, Attock narcotics, Bhakkar weapons; D.G. Khan and Murree report nothing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5448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Share of BCP total, % (nine months)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874520"/>
          <a:ext cx="7589520" cy="4069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8412480" y="16916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Mianwali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8412480" y="1984248"/>
            <a:ext cx="3200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5 posts, 154 personnel (43%): 95% of arrests, but 2 of the 5 posts report nothing.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8412480" y="27706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D.G. Khan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8412480" y="3063240"/>
            <a:ext cx="3200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2 posts, 78 personnel (22%), 48 of them elite: no arrests, seizures or recoveries.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8412480" y="384962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Bhakkar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8412480" y="4142232"/>
            <a:ext cx="3200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3 posts, 74 personnel (21%): 80% of weapons recovered, 5 arrests.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8412480" y="492861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Attock and Murree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8412480" y="5221224"/>
            <a:ext cx="3200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Attock: 29 personnel, 97% of narcotics. Murree: 4 posts, 20 personnel, nothing.</a:t>
            </a:r>
            <a:endParaRPr lang="en-US" sz="1300" dirty="0"/>
          </a:p>
        </p:txBody>
      </p:sp>
      <p:sp>
        <p:nvSpPr>
          <p:cNvPr id="13" name="Source note"/>
          <p:cNvSpPr txBox="1"/>
          <p:nvPr/>
        </p:nvSpPr>
        <p:spPr>
          <a:xfrm>
            <a:off x="548640" y="605332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Mianwali’s three arrest posts are Daratang, Shakardara and Chashma; Qabool Khel and Kundal report no output.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Eight border posts with 171 personnel reported no arrests, seizures or recoveries in nine months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5448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Personnel at zero-output border posts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874520"/>
          <a:ext cx="6583680" cy="4069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tat of border-post perso"/>
          <p:cNvSpPr txBox="1"/>
          <p:nvPr/>
        </p:nvSpPr>
        <p:spPr>
          <a:xfrm>
            <a:off x="7589520" y="1691640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48%</a:t>
            </a:r>
            <a:endParaRPr lang="en-US" sz="3800" dirty="0"/>
          </a:p>
        </p:txBody>
      </p:sp>
      <p:sp>
        <p:nvSpPr>
          <p:cNvPr id="6" name="Text 3"/>
          <p:cNvSpPr txBox="1"/>
          <p:nvPr/>
        </p:nvSpPr>
        <p:spPr>
          <a:xfrm>
            <a:off x="7589520" y="242316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of border-post personnel (171 of 355) sit at these eight posts</a:t>
            </a:r>
            <a:endParaRPr lang="en-US" sz="1400" dirty="0"/>
          </a:p>
        </p:txBody>
      </p:sp>
      <p:sp>
        <p:nvSpPr>
          <p:cNvPr id="7" name="Stat elite-force personne"/>
          <p:cNvSpPr txBox="1"/>
          <p:nvPr/>
        </p:nvSpPr>
        <p:spPr>
          <a:xfrm>
            <a:off x="7589520" y="3200400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79 of 133</a:t>
            </a:r>
            <a:endParaRPr lang="en-US" sz="3800" dirty="0"/>
          </a:p>
        </p:txBody>
      </p:sp>
      <p:sp>
        <p:nvSpPr>
          <p:cNvPr id="8" name="Text 5"/>
          <p:cNvSpPr txBox="1"/>
          <p:nvPr/>
        </p:nvSpPr>
        <p:spPr>
          <a:xfrm>
            <a:off x="7589520" y="393192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elite-force personnel (59%) are here, including 48 at the two D.G. Khan posts</a:t>
            </a:r>
            <a:endParaRPr lang="en-US" sz="1400" dirty="0"/>
          </a:p>
        </p:txBody>
      </p:sp>
      <p:sp>
        <p:nvSpPr>
          <p:cNvPr id="9" name="Caveat box"/>
          <p:cNvSpPr/>
          <p:nvPr/>
        </p:nvSpPr>
        <p:spPr>
          <a:xfrm>
            <a:off x="7589520" y="4572000"/>
            <a:ext cx="4050792" cy="13258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72400" y="4617720"/>
            <a:ext cx="3703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Read with care: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zero reported output may reflect deterrence or screening roles that arrests and seizures do not capture. Confirm each post’s mandate before redeploying.</a:t>
            </a:r>
            <a:endParaRPr lang="en-US" sz="1300" dirty="0"/>
          </a:p>
        </p:txBody>
      </p:sp>
      <p:sp>
        <p:nvSpPr>
          <p:cNvPr id="11" name="Source note"/>
          <p:cNvSpPr txBox="1"/>
          <p:nvPr/>
        </p:nvSpPr>
        <p:spPr>
          <a:xfrm>
            <a:off x="548640" y="605332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Zero output = no arrests, narcotics, weapons or ammunition recovered in Q1, Q2 or Q3. Murree posts (Barian, Ghora Gali, Upper and Lower Dewal) have 5 personnel each.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Elite force is concentrated: ten posts have it and make 97% of arrests, yet four of them report nothing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5448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Personnel by post, elite force and regular police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874520"/>
          <a:ext cx="6400800" cy="4069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tat arrests, and all nar"/>
          <p:cNvSpPr txBox="1"/>
          <p:nvPr/>
        </p:nvSpPr>
        <p:spPr>
          <a:xfrm>
            <a:off x="7406640" y="169164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104 of 107</a:t>
            </a:r>
            <a:endParaRPr lang="en-US" sz="3400" dirty="0"/>
          </a:p>
        </p:txBody>
      </p:sp>
      <p:sp>
        <p:nvSpPr>
          <p:cNvPr id="6" name="Text 3"/>
          <p:cNvSpPr txBox="1"/>
          <p:nvPr/>
        </p:nvSpPr>
        <p:spPr>
          <a:xfrm>
            <a:off x="7406640" y="242316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arrests, and all narcotics, come from the 10 posts with elite force; the 6 regular posts (60 personnel) made 3 arrests</a:t>
            </a:r>
            <a:endParaRPr lang="en-US" sz="1400" dirty="0"/>
          </a:p>
        </p:txBody>
      </p:sp>
      <p:sp>
        <p:nvSpPr>
          <p:cNvPr id="7" name="Stat arrests per person a"/>
          <p:cNvSpPr txBox="1"/>
          <p:nvPr/>
        </p:nvSpPr>
        <p:spPr>
          <a:xfrm>
            <a:off x="7406640" y="320040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0.35 vs 0.05</a:t>
            </a:r>
            <a:endParaRPr lang="en-US" sz="3400" dirty="0"/>
          </a:p>
        </p:txBody>
      </p:sp>
      <p:sp>
        <p:nvSpPr>
          <p:cNvPr id="8" name="Text 5"/>
          <p:cNvSpPr txBox="1"/>
          <p:nvPr/>
        </p:nvSpPr>
        <p:spPr>
          <a:xfrm>
            <a:off x="7406640" y="393192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arrests per person at elite posts against regular posts</a:t>
            </a:r>
            <a:endParaRPr lang="en-US" sz="1400" dirty="0"/>
          </a:p>
        </p:txBody>
      </p:sp>
      <p:sp>
        <p:nvSpPr>
          <p:cNvPr id="9" name="Stat elite personnel sit "/>
          <p:cNvSpPr txBox="1"/>
          <p:nvPr/>
        </p:nvSpPr>
        <p:spPr>
          <a:xfrm>
            <a:off x="7406640" y="470916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79 of 133</a:t>
            </a:r>
            <a:endParaRPr lang="en-US" sz="3400" dirty="0"/>
          </a:p>
        </p:txBody>
      </p:sp>
      <p:sp>
        <p:nvSpPr>
          <p:cNvPr id="10" name="Text 7"/>
          <p:cNvSpPr txBox="1"/>
          <p:nvPr/>
        </p:nvSpPr>
        <p:spPr>
          <a:xfrm>
            <a:off x="7406640" y="544068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elite personnel sit at four posts reporting nothing: Lakhani 31, Qabool Khel 23, Jhangi 17, Kundal 8</a:t>
            </a:r>
            <a:endParaRPr lang="en-US" sz="1400" dirty="0"/>
          </a:p>
        </p:txBody>
      </p:sp>
      <p:sp>
        <p:nvSpPr>
          <p:cNvPr id="11" name="Source note"/>
          <p:cNvSpPr txBox="1"/>
          <p:nvPr/>
        </p:nvSpPr>
        <p:spPr>
          <a:xfrm>
            <a:off x="548640" y="605332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Elite force and regular police are the two columns of the workbook’s “Total Police Deployment” block. Labels of zero are hidden.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Staffing density ranges from 2.2 to 12.5 per point-shift, and 84% of personnel are constables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5448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Personnel per point-shift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874520"/>
          <a:ext cx="6309360" cy="4069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tat Chashma (25 staff, 1"/>
          <p:cNvSpPr txBox="1"/>
          <p:nvPr/>
        </p:nvSpPr>
        <p:spPr>
          <a:xfrm>
            <a:off x="7406640" y="169164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12.5 vs 2.2</a:t>
            </a:r>
            <a:endParaRPr lang="en-US" sz="3400" dirty="0"/>
          </a:p>
        </p:txBody>
      </p:sp>
      <p:sp>
        <p:nvSpPr>
          <p:cNvPr id="6" name="Text 3"/>
          <p:cNvSpPr txBox="1"/>
          <p:nvPr/>
        </p:nvSpPr>
        <p:spPr>
          <a:xfrm>
            <a:off x="7406640" y="242316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Chashma (25 staff, 1 point, 2 shifts) against Bharmi Nawab and Pattan Kanial; Kundal has 36 staff for one point duty</a:t>
            </a:r>
            <a:endParaRPr lang="en-US" sz="1400" dirty="0"/>
          </a:p>
        </p:txBody>
      </p:sp>
      <p:sp>
        <p:nvSpPr>
          <p:cNvPr id="7" name="Stat of personnel are FC/"/>
          <p:cNvSpPr txBox="1"/>
          <p:nvPr/>
        </p:nvSpPr>
        <p:spPr>
          <a:xfrm>
            <a:off x="7406640" y="320040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84%</a:t>
            </a:r>
            <a:endParaRPr lang="en-US" sz="3400" dirty="0"/>
          </a:p>
        </p:txBody>
      </p:sp>
      <p:sp>
        <p:nvSpPr>
          <p:cNvPr id="8" name="Text 5"/>
          <p:cNvSpPr txBox="1"/>
          <p:nvPr/>
        </p:nvSpPr>
        <p:spPr>
          <a:xfrm>
            <a:off x="7406640" y="393192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of personnel are FC/DC (299 of 355); only 56 (16%) are SI, ASI or HC</a:t>
            </a:r>
            <a:endParaRPr lang="en-US" sz="1400" dirty="0"/>
          </a:p>
        </p:txBody>
      </p:sp>
      <p:sp>
        <p:nvSpPr>
          <p:cNvPr id="9" name="Stat for 16 posts: elite "/>
          <p:cNvSpPr txBox="1"/>
          <p:nvPr/>
        </p:nvSpPr>
        <p:spPr>
          <a:xfrm>
            <a:off x="7406640" y="470916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 SIs</a:t>
            </a:r>
            <a:endParaRPr lang="en-US" sz="3400" dirty="0"/>
          </a:p>
        </p:txBody>
      </p:sp>
      <p:sp>
        <p:nvSpPr>
          <p:cNvPr id="10" name="Text 7"/>
          <p:cNvSpPr txBox="1"/>
          <p:nvPr/>
        </p:nvSpPr>
        <p:spPr>
          <a:xfrm>
            <a:off x="7406640" y="544068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for 16 posts: elite force has none, and 8 posts have no SI-rank supervisor on record</a:t>
            </a:r>
            <a:endParaRPr lang="en-US" sz="1400" dirty="0"/>
          </a:p>
        </p:txBody>
      </p:sp>
      <p:sp>
        <p:nvSpPr>
          <p:cNvPr id="11" name="Source note"/>
          <p:cNvSpPr txBox="1"/>
          <p:nvPr/>
        </p:nvSpPr>
        <p:spPr>
          <a:xfrm>
            <a:off x="548640" y="605332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Personnel per point-shift = personnel ÷ (point duties × shifts), an indicative density measure. Rank counts combine elite and regular police.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Deployment matrix: four heavy posts hold 43% of personnel and report nothing, while four lean posts deliver half of output with 19% of staff</a:t>
            </a:r>
            <a:endParaRPr lang="en-US" sz="2600" dirty="0"/>
          </a:p>
        </p:txBody>
      </p:sp>
      <p:sp>
        <p:nvSpPr>
          <p:cNvPr id="3" name="Quadrant lean"/>
          <p:cNvSpPr/>
          <p:nvPr/>
        </p:nvSpPr>
        <p:spPr>
          <a:xfrm>
            <a:off x="1051560" y="1828800"/>
            <a:ext cx="2880932" cy="2151380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4" name="Quadrant core"/>
          <p:cNvSpPr/>
          <p:nvPr/>
        </p:nvSpPr>
        <p:spPr>
          <a:xfrm>
            <a:off x="3932492" y="1828800"/>
            <a:ext cx="3611309" cy="2151380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5" name="Quadrant light"/>
          <p:cNvSpPr/>
          <p:nvPr/>
        </p:nvSpPr>
        <p:spPr>
          <a:xfrm>
            <a:off x="1051560" y="3980180"/>
            <a:ext cx="2880932" cy="136906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6" name="Quadrant heavy"/>
          <p:cNvSpPr/>
          <p:nvPr/>
        </p:nvSpPr>
        <p:spPr>
          <a:xfrm>
            <a:off x="3932492" y="3980180"/>
            <a:ext cx="3611309" cy="1369060"/>
          </a:xfrm>
          <a:prstGeom prst="rect">
            <a:avLst/>
          </a:prstGeom>
          <a:solidFill>
            <a:schemeClr val="accent6">
              <a:alpha val="10000"/>
            </a:schemeClr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24712" y="188366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LEAN PERFORMERS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641848" y="188366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CORE PERFORMERS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2030540" y="507492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chemeClr val="accent4"/>
                </a:solidFill>
              </a:rPr>
              <a:t>LIGHT-TOUCH POSTS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5641848" y="507492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chemeClr val="accent6"/>
                </a:solidFill>
              </a:rPr>
              <a:t>HEAVY, LOW YIELD</a:t>
            </a:r>
            <a:endParaRPr lang="en-US" sz="1100" dirty="0"/>
          </a:p>
        </p:txBody>
      </p:sp>
      <p:sp>
        <p:nvSpPr>
          <p:cNvPr id="11" name="Post ACLC Jhari Kass"/>
          <p:cNvSpPr/>
          <p:nvPr/>
        </p:nvSpPr>
        <p:spPr>
          <a:xfrm>
            <a:off x="3046781" y="1746504"/>
            <a:ext cx="164592" cy="16459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bg1"/>
            </a:solidFill>
            <a:prstDash val="solid"/>
          </a:ln>
        </p:spPr>
      </p:sp>
      <p:sp>
        <p:nvSpPr>
          <p:cNvPr id="12" name="Post ACLC Kotkay"/>
          <p:cNvSpPr/>
          <p:nvPr/>
        </p:nvSpPr>
        <p:spPr>
          <a:xfrm>
            <a:off x="2657246" y="3842766"/>
            <a:ext cx="164592" cy="16459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bg1"/>
            </a:solidFill>
            <a:prstDash val="solid"/>
          </a:ln>
        </p:spPr>
      </p:sp>
      <p:sp>
        <p:nvSpPr>
          <p:cNvPr id="13" name="Post Barian"/>
          <p:cNvSpPr/>
          <p:nvPr/>
        </p:nvSpPr>
        <p:spPr>
          <a:xfrm>
            <a:off x="1618488" y="4875784"/>
            <a:ext cx="164592" cy="16459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bg1"/>
            </a:solidFill>
            <a:prstDash val="solid"/>
          </a:ln>
        </p:spPr>
      </p:sp>
      <p:sp>
        <p:nvSpPr>
          <p:cNvPr id="14" name="Post Ghora Gali"/>
          <p:cNvSpPr/>
          <p:nvPr/>
        </p:nvSpPr>
        <p:spPr>
          <a:xfrm>
            <a:off x="1618488" y="4875784"/>
            <a:ext cx="164592" cy="16459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bg1"/>
            </a:solidFill>
            <a:prstDash val="solid"/>
          </a:ln>
        </p:spPr>
      </p:sp>
      <p:sp>
        <p:nvSpPr>
          <p:cNvPr id="15" name="Post Upper Dewal"/>
          <p:cNvSpPr/>
          <p:nvPr/>
        </p:nvSpPr>
        <p:spPr>
          <a:xfrm>
            <a:off x="1618488" y="4875784"/>
            <a:ext cx="164592" cy="16459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bg1"/>
            </a:solidFill>
            <a:prstDash val="solid"/>
          </a:ln>
        </p:spPr>
      </p:sp>
      <p:sp>
        <p:nvSpPr>
          <p:cNvPr id="16" name="Post Lower Dewal"/>
          <p:cNvSpPr/>
          <p:nvPr/>
        </p:nvSpPr>
        <p:spPr>
          <a:xfrm>
            <a:off x="1618488" y="4875784"/>
            <a:ext cx="164592" cy="16459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bg1"/>
            </a:solidFill>
            <a:prstDash val="solid"/>
          </a:ln>
        </p:spPr>
      </p:sp>
      <p:sp>
        <p:nvSpPr>
          <p:cNvPr id="17" name="Post Shakardara"/>
          <p:cNvSpPr/>
          <p:nvPr/>
        </p:nvSpPr>
        <p:spPr>
          <a:xfrm>
            <a:off x="3566160" y="3462246"/>
            <a:ext cx="164592" cy="16459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bg1"/>
            </a:solidFill>
            <a:prstDash val="solid"/>
          </a:ln>
        </p:spPr>
      </p:sp>
      <p:sp>
        <p:nvSpPr>
          <p:cNvPr id="18" name="Post Qabool Khel"/>
          <p:cNvSpPr/>
          <p:nvPr/>
        </p:nvSpPr>
        <p:spPr>
          <a:xfrm>
            <a:off x="5773522" y="4875784"/>
            <a:ext cx="164592" cy="16459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bg1"/>
            </a:solidFill>
            <a:prstDash val="solid"/>
          </a:ln>
        </p:spPr>
      </p:sp>
      <p:sp>
        <p:nvSpPr>
          <p:cNvPr id="19" name="Post Daratang"/>
          <p:cNvSpPr/>
          <p:nvPr/>
        </p:nvSpPr>
        <p:spPr>
          <a:xfrm>
            <a:off x="5643677" y="2204723"/>
            <a:ext cx="164592" cy="16459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bg1"/>
            </a:solidFill>
            <a:prstDash val="solid"/>
          </a:ln>
        </p:spPr>
      </p:sp>
      <p:sp>
        <p:nvSpPr>
          <p:cNvPr id="20" name="Post Kundal"/>
          <p:cNvSpPr/>
          <p:nvPr/>
        </p:nvSpPr>
        <p:spPr>
          <a:xfrm>
            <a:off x="5643677" y="4875784"/>
            <a:ext cx="164592" cy="16459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bg1"/>
            </a:solidFill>
            <a:prstDash val="solid"/>
          </a:ln>
        </p:spPr>
      </p:sp>
      <p:sp>
        <p:nvSpPr>
          <p:cNvPr id="21" name="Post Chashma"/>
          <p:cNvSpPr/>
          <p:nvPr/>
        </p:nvSpPr>
        <p:spPr>
          <a:xfrm>
            <a:off x="4215384" y="3069868"/>
            <a:ext cx="164592" cy="16459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bg1"/>
            </a:solidFill>
            <a:prstDash val="solid"/>
          </a:ln>
        </p:spPr>
      </p:sp>
      <p:sp>
        <p:nvSpPr>
          <p:cNvPr id="22" name="Post Bharmi Nawab"/>
          <p:cNvSpPr/>
          <p:nvPr/>
        </p:nvSpPr>
        <p:spPr>
          <a:xfrm>
            <a:off x="3566160" y="4256752"/>
            <a:ext cx="164592" cy="16459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bg1"/>
            </a:solidFill>
            <a:prstDash val="solid"/>
          </a:ln>
        </p:spPr>
      </p:sp>
      <p:sp>
        <p:nvSpPr>
          <p:cNvPr id="23" name="Post Pattan Kanial"/>
          <p:cNvSpPr/>
          <p:nvPr/>
        </p:nvSpPr>
        <p:spPr>
          <a:xfrm>
            <a:off x="3566160" y="3783948"/>
            <a:ext cx="164592" cy="16459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bg1"/>
            </a:solidFill>
            <a:prstDash val="solid"/>
          </a:ln>
        </p:spPr>
      </p:sp>
      <p:sp>
        <p:nvSpPr>
          <p:cNvPr id="24" name="Post Rohila Gharbi"/>
          <p:cNvSpPr/>
          <p:nvPr/>
        </p:nvSpPr>
        <p:spPr>
          <a:xfrm>
            <a:off x="5383987" y="2170565"/>
            <a:ext cx="164592" cy="16459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bg1"/>
            </a:solidFill>
            <a:prstDash val="solid"/>
          </a:ln>
        </p:spPr>
      </p:sp>
      <p:sp>
        <p:nvSpPr>
          <p:cNvPr id="25" name="Post Jhangi"/>
          <p:cNvSpPr/>
          <p:nvPr/>
        </p:nvSpPr>
        <p:spPr>
          <a:xfrm>
            <a:off x="4864608" y="4875784"/>
            <a:ext cx="164592" cy="16459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bg1"/>
            </a:solidFill>
            <a:prstDash val="solid"/>
          </a:ln>
        </p:spPr>
      </p:sp>
      <p:sp>
        <p:nvSpPr>
          <p:cNvPr id="26" name="Post Lakhani"/>
          <p:cNvSpPr/>
          <p:nvPr/>
        </p:nvSpPr>
        <p:spPr>
          <a:xfrm>
            <a:off x="7201814" y="4875784"/>
            <a:ext cx="164592" cy="16459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bg1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940357" y="1545336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ACLC Jhari Kass (index 27.5, off scale)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1733702" y="3824478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ACLC Kotkay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3776472" y="344395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Shakardara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3776472" y="376566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Pattan Kanial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3776472" y="423846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Bharmi Nawab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5853989" y="2186435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Daratang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4323283" y="2152277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Rohila Gharbi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4425696" y="305158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Chashma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4994453" y="4674616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Qabool Khel, Kundal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4581144" y="4674616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Jhangi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6918350" y="4674616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Lakhani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1335024" y="504952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Murree x4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822960" y="537667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0</a:t>
            </a:r>
            <a:endParaRPr lang="en-US" sz="1000" dirty="0"/>
          </a:p>
        </p:txBody>
      </p:sp>
      <p:sp>
        <p:nvSpPr>
          <p:cNvPr id="40" name="Text 38"/>
          <p:cNvSpPr txBox="1"/>
          <p:nvPr/>
        </p:nvSpPr>
        <p:spPr>
          <a:xfrm>
            <a:off x="2121408" y="537667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10</a:t>
            </a:r>
            <a:endParaRPr lang="en-US" sz="1000" dirty="0"/>
          </a:p>
        </p:txBody>
      </p:sp>
      <p:sp>
        <p:nvSpPr>
          <p:cNvPr id="41" name="Text 39"/>
          <p:cNvSpPr txBox="1"/>
          <p:nvPr/>
        </p:nvSpPr>
        <p:spPr>
          <a:xfrm>
            <a:off x="3419856" y="537667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20</a:t>
            </a:r>
            <a:endParaRPr lang="en-US" sz="1000" dirty="0"/>
          </a:p>
        </p:txBody>
      </p:sp>
      <p:sp>
        <p:nvSpPr>
          <p:cNvPr id="42" name="Text 40"/>
          <p:cNvSpPr txBox="1"/>
          <p:nvPr/>
        </p:nvSpPr>
        <p:spPr>
          <a:xfrm>
            <a:off x="4718304" y="537667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30</a:t>
            </a:r>
            <a:endParaRPr lang="en-US" sz="1000" dirty="0"/>
          </a:p>
        </p:txBody>
      </p:sp>
      <p:sp>
        <p:nvSpPr>
          <p:cNvPr id="43" name="Text 41"/>
          <p:cNvSpPr txBox="1"/>
          <p:nvPr/>
        </p:nvSpPr>
        <p:spPr>
          <a:xfrm>
            <a:off x="6016752" y="537667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40</a:t>
            </a:r>
            <a:endParaRPr lang="en-US" sz="1000" dirty="0"/>
          </a:p>
        </p:txBody>
      </p:sp>
      <p:sp>
        <p:nvSpPr>
          <p:cNvPr id="44" name="Text 42"/>
          <p:cNvSpPr txBox="1"/>
          <p:nvPr/>
        </p:nvSpPr>
        <p:spPr>
          <a:xfrm>
            <a:off x="7315200" y="537667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50</a:t>
            </a:r>
            <a:endParaRPr lang="en-US" sz="1000" dirty="0"/>
          </a:p>
        </p:txBody>
      </p:sp>
      <p:sp>
        <p:nvSpPr>
          <p:cNvPr id="45" name="Text 43"/>
          <p:cNvSpPr txBox="1"/>
          <p:nvPr/>
        </p:nvSpPr>
        <p:spPr>
          <a:xfrm>
            <a:off x="667512" y="4857496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0</a:t>
            </a:r>
            <a:endParaRPr lang="en-US" sz="1000" dirty="0"/>
          </a:p>
        </p:txBody>
      </p:sp>
      <p:sp>
        <p:nvSpPr>
          <p:cNvPr id="46" name="Text 44"/>
          <p:cNvSpPr txBox="1"/>
          <p:nvPr/>
        </p:nvSpPr>
        <p:spPr>
          <a:xfrm>
            <a:off x="667512" y="4075176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5</a:t>
            </a:r>
            <a:endParaRPr lang="en-US" sz="1000" dirty="0"/>
          </a:p>
        </p:txBody>
      </p:sp>
      <p:sp>
        <p:nvSpPr>
          <p:cNvPr id="47" name="Text 45"/>
          <p:cNvSpPr txBox="1"/>
          <p:nvPr/>
        </p:nvSpPr>
        <p:spPr>
          <a:xfrm>
            <a:off x="667512" y="3292856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10</a:t>
            </a:r>
            <a:endParaRPr lang="en-US" sz="1000" dirty="0"/>
          </a:p>
        </p:txBody>
      </p:sp>
      <p:sp>
        <p:nvSpPr>
          <p:cNvPr id="48" name="Text 46"/>
          <p:cNvSpPr txBox="1"/>
          <p:nvPr/>
        </p:nvSpPr>
        <p:spPr>
          <a:xfrm>
            <a:off x="667512" y="2510536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15</a:t>
            </a:r>
            <a:endParaRPr lang="en-US" sz="1000" dirty="0"/>
          </a:p>
        </p:txBody>
      </p:sp>
      <p:sp>
        <p:nvSpPr>
          <p:cNvPr id="49" name="Text 47"/>
          <p:cNvSpPr txBox="1"/>
          <p:nvPr/>
        </p:nvSpPr>
        <p:spPr>
          <a:xfrm>
            <a:off x="667512" y="1728216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20</a:t>
            </a:r>
            <a:endParaRPr lang="en-US" sz="1000" dirty="0"/>
          </a:p>
        </p:txBody>
      </p:sp>
      <p:sp>
        <p:nvSpPr>
          <p:cNvPr id="50" name="Text 48"/>
          <p:cNvSpPr txBox="1"/>
          <p:nvPr/>
        </p:nvSpPr>
        <p:spPr>
          <a:xfrm>
            <a:off x="1051560" y="5596128"/>
            <a:ext cx="6492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Personnel deployed (cut-off: average post, 22)</a:t>
            </a:r>
            <a:endParaRPr lang="en-US" sz="1100" dirty="0"/>
          </a:p>
        </p:txBody>
      </p:sp>
      <p:sp>
        <p:nvSpPr>
          <p:cNvPr id="51" name="Y axis title"/>
          <p:cNvSpPr txBox="1"/>
          <p:nvPr/>
        </p:nvSpPr>
        <p:spPr>
          <a:xfrm>
            <a:off x="320040" y="1828800"/>
            <a:ext cx="292608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vert270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Output index, % (cut-off: 6.3)</a:t>
            </a:r>
            <a:endParaRPr lang="en-US" sz="1100" dirty="0"/>
          </a:p>
        </p:txBody>
      </p:sp>
      <p:sp>
        <p:nvSpPr>
          <p:cNvPr id="52" name="Text 50"/>
          <p:cNvSpPr txBox="1"/>
          <p:nvPr/>
        </p:nvSpPr>
        <p:spPr>
          <a:xfrm>
            <a:off x="8183880" y="17373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Heavy, low yield</a:t>
            </a:r>
            <a:endParaRPr lang="en-US" sz="1500" dirty="0"/>
          </a:p>
        </p:txBody>
      </p:sp>
      <p:sp>
        <p:nvSpPr>
          <p:cNvPr id="53" name="Text 51"/>
          <p:cNvSpPr txBox="1"/>
          <p:nvPr/>
        </p:nvSpPr>
        <p:spPr>
          <a:xfrm>
            <a:off x="8183880" y="202082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4 posts  |  43% of personnel  |  0% of output</a:t>
            </a:r>
            <a:endParaRPr lang="en-US" sz="1300" dirty="0"/>
          </a:p>
        </p:txBody>
      </p:sp>
      <p:sp>
        <p:nvSpPr>
          <p:cNvPr id="54" name="Text 52"/>
          <p:cNvSpPr txBox="1"/>
          <p:nvPr/>
        </p:nvSpPr>
        <p:spPr>
          <a:xfrm>
            <a:off x="8183880" y="228600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Qabool Khel, Kundal, Jhangi, Lakhani</a:t>
            </a:r>
            <a:endParaRPr lang="en-US" sz="1200" dirty="0"/>
          </a:p>
        </p:txBody>
      </p:sp>
      <p:sp>
        <p:nvSpPr>
          <p:cNvPr id="55" name="Text 53"/>
          <p:cNvSpPr txBox="1"/>
          <p:nvPr/>
        </p:nvSpPr>
        <p:spPr>
          <a:xfrm>
            <a:off x="8183880" y="276148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performers</a:t>
            </a:r>
            <a:endParaRPr lang="en-US" sz="1500" dirty="0"/>
          </a:p>
        </p:txBody>
      </p:sp>
      <p:sp>
        <p:nvSpPr>
          <p:cNvPr id="56" name="Text 54"/>
          <p:cNvSpPr txBox="1"/>
          <p:nvPr/>
        </p:nvSpPr>
        <p:spPr>
          <a:xfrm>
            <a:off x="8183880" y="304495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3 posts  |  27% of personnel  |  46% of output</a:t>
            </a:r>
            <a:endParaRPr lang="en-US" sz="1300" dirty="0"/>
          </a:p>
        </p:txBody>
      </p:sp>
      <p:sp>
        <p:nvSpPr>
          <p:cNvPr id="57" name="Text 55"/>
          <p:cNvSpPr txBox="1"/>
          <p:nvPr/>
        </p:nvSpPr>
        <p:spPr>
          <a:xfrm>
            <a:off x="8183880" y="3310128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Daratang, Chashma, Rohila Gharbi</a:t>
            </a:r>
            <a:endParaRPr lang="en-US" sz="1200" dirty="0"/>
          </a:p>
        </p:txBody>
      </p:sp>
      <p:sp>
        <p:nvSpPr>
          <p:cNvPr id="58" name="Text 56"/>
          <p:cNvSpPr txBox="1"/>
          <p:nvPr/>
        </p:nvSpPr>
        <p:spPr>
          <a:xfrm>
            <a:off x="8183880" y="378561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Lean performers</a:t>
            </a:r>
            <a:endParaRPr lang="en-US" sz="1500" dirty="0"/>
          </a:p>
        </p:txBody>
      </p:sp>
      <p:sp>
        <p:nvSpPr>
          <p:cNvPr id="59" name="Text 57"/>
          <p:cNvSpPr txBox="1"/>
          <p:nvPr/>
        </p:nvSpPr>
        <p:spPr>
          <a:xfrm>
            <a:off x="8183880" y="406908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4 posts  |  19% of personnel  |  50% of output</a:t>
            </a:r>
            <a:endParaRPr lang="en-US" sz="1300" dirty="0"/>
          </a:p>
        </p:txBody>
      </p:sp>
      <p:sp>
        <p:nvSpPr>
          <p:cNvPr id="60" name="Text 58"/>
          <p:cNvSpPr txBox="1"/>
          <p:nvPr/>
        </p:nvSpPr>
        <p:spPr>
          <a:xfrm>
            <a:off x="8183880" y="4334256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ACLC Jhari Kass, ACLC Kotkay, Shakardara, Pattan Kanial</a:t>
            </a:r>
            <a:endParaRPr lang="en-US" sz="1200" dirty="0"/>
          </a:p>
        </p:txBody>
      </p:sp>
      <p:sp>
        <p:nvSpPr>
          <p:cNvPr id="61" name="Text 59"/>
          <p:cNvSpPr txBox="1"/>
          <p:nvPr/>
        </p:nvSpPr>
        <p:spPr>
          <a:xfrm>
            <a:off x="8183880" y="480974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Light-touch posts</a:t>
            </a:r>
            <a:endParaRPr lang="en-US" sz="1500" dirty="0"/>
          </a:p>
        </p:txBody>
      </p:sp>
      <p:sp>
        <p:nvSpPr>
          <p:cNvPr id="62" name="Text 60"/>
          <p:cNvSpPr txBox="1"/>
          <p:nvPr/>
        </p:nvSpPr>
        <p:spPr>
          <a:xfrm>
            <a:off x="8183880" y="509320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5 posts  |  11% of personnel  |  4% of output</a:t>
            </a:r>
            <a:endParaRPr lang="en-US" sz="1300" dirty="0"/>
          </a:p>
        </p:txBody>
      </p:sp>
      <p:sp>
        <p:nvSpPr>
          <p:cNvPr id="63" name="Text 61"/>
          <p:cNvSpPr txBox="1"/>
          <p:nvPr/>
        </p:nvSpPr>
        <p:spPr>
          <a:xfrm>
            <a:off x="8183880" y="5358384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Barian, Ghora Gali, Upper Dewal, Lower Dewal, Bharmi Nawab</a:t>
            </a:r>
            <a:endParaRPr lang="en-US" sz="1200" dirty="0"/>
          </a:p>
        </p:txBody>
      </p:sp>
      <p:sp>
        <p:nvSpPr>
          <p:cNvPr id="64" name="Source note"/>
          <p:cNvSpPr txBox="1"/>
          <p:nvPr/>
        </p:nvSpPr>
        <p:spPr>
          <a:xfrm>
            <a:off x="548640" y="605332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Output index = average of each post’s share of BCP arrests, narcotics (kg) and weapons recovered, Jan–Sep 2026 (illustrative, equal weights). Cut-offs are the average post. Y axis capped at 20; ACLC Jhari Kass index is 27.5.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Kit: 401 weapons on hand for 355 personnel, but body armour covers 69% and Shakardara only 10%</a:t>
            </a:r>
            <a:endParaRPr lang="en-US" sz="2600" dirty="0"/>
          </a:p>
        </p:txBody>
      </p:sp>
      <p:sp>
        <p:nvSpPr>
          <p:cNvPr id="3" name="Stat on hand: 197 K.Kove,"/>
          <p:cNvSpPr txBox="1"/>
          <p:nvPr/>
        </p:nvSpPr>
        <p:spPr>
          <a:xfrm>
            <a:off x="548640" y="1691640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401 weapons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42316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on hand: 197 K.Kove, 139 rifles, 53 pistols and 12 pump-action guns, plus 135,048 rounds</a:t>
            </a:r>
            <a:endParaRPr lang="en-US" sz="1400" dirty="0"/>
          </a:p>
        </p:txBody>
      </p:sp>
      <p:sp>
        <p:nvSpPr>
          <p:cNvPr id="5" name="Stat bullet-proof jackets"/>
          <p:cNvSpPr txBox="1"/>
          <p:nvPr/>
        </p:nvSpPr>
        <p:spPr>
          <a:xfrm>
            <a:off x="548640" y="3200400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246 for 355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93192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bullet-proof jackets: 69% cover. Shakardara holds 14,800 rounds but only 2 jackets for 20 personnel</a:t>
            </a:r>
            <a:endParaRPr lang="en-US" sz="1400" dirty="0"/>
          </a:p>
        </p:txBody>
      </p:sp>
      <p:sp>
        <p:nvSpPr>
          <p:cNvPr id="7" name="Stat at 9 posts, and 12 b"/>
          <p:cNvSpPr txBox="1"/>
          <p:nvPr/>
        </p:nvSpPr>
        <p:spPr>
          <a:xfrm>
            <a:off x="548640" y="4709160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 vehicles</a:t>
            </a:r>
            <a:endParaRPr lang="en-US" sz="36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544068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at 9 posts, and 12 bikes at 5; the two Attock posts and four Murree posts report neither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309360" y="1554480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Lowest jacket coverage, jackets per person, %</a:t>
            </a:r>
            <a:endParaRPr lang="en-US" sz="140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6217920" y="1874520"/>
          <a:ext cx="544068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1" name="Source note"/>
          <p:cNvSpPr txBox="1"/>
          <p:nvPr/>
        </p:nvSpPr>
        <p:spPr>
          <a:xfrm>
            <a:off x="548640" y="605332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Personnel in brackets. Blank equipment fields (shown “-” in the workbook) are treated as not reported; vehicles and bikes at ACLC and Murree posts are blank.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Surveillance: all 104 cameras are working, and the four silent heavy posts hold 41 of them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5448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CCTV cameras installed, number (red = silent heavy posts)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874520"/>
          <a:ext cx="6309360" cy="4069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tat installed cameras ar"/>
          <p:cNvSpPr txBox="1"/>
          <p:nvPr/>
        </p:nvSpPr>
        <p:spPr>
          <a:xfrm>
            <a:off x="7406640" y="169164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104 of 104</a:t>
            </a:r>
            <a:endParaRPr lang="en-US" sz="3400" dirty="0"/>
          </a:p>
        </p:txBody>
      </p:sp>
      <p:sp>
        <p:nvSpPr>
          <p:cNvPr id="6" name="Text 3"/>
          <p:cNvSpPr txBox="1"/>
          <p:nvPr/>
        </p:nvSpPr>
        <p:spPr>
          <a:xfrm>
            <a:off x="7406640" y="242316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installed cameras are functional at the 13 posts that report them</a:t>
            </a:r>
            <a:endParaRPr lang="en-US" sz="1400" dirty="0"/>
          </a:p>
        </p:txBody>
      </p:sp>
      <p:sp>
        <p:nvSpPr>
          <p:cNvPr id="7" name="Stat Ghora Gali, Upper De"/>
          <p:cNvSpPr txBox="1"/>
          <p:nvPr/>
        </p:nvSpPr>
        <p:spPr>
          <a:xfrm>
            <a:off x="7406640" y="320040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Murree posts</a:t>
            </a:r>
            <a:endParaRPr lang="en-US" sz="3400" dirty="0"/>
          </a:p>
        </p:txBody>
      </p:sp>
      <p:sp>
        <p:nvSpPr>
          <p:cNvPr id="8" name="Text 5"/>
          <p:cNvSpPr txBox="1"/>
          <p:nvPr/>
        </p:nvSpPr>
        <p:spPr>
          <a:xfrm>
            <a:off x="7406640" y="393192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Ghora Gali, Upper Dewal and Lower Dewal have no camera data; Barian has 1</a:t>
            </a:r>
            <a:endParaRPr lang="en-US" sz="1400" dirty="0"/>
          </a:p>
        </p:txBody>
      </p:sp>
      <p:sp>
        <p:nvSpPr>
          <p:cNvPr id="9" name="Stat posts report a bound"/>
          <p:cNvSpPr txBox="1"/>
          <p:nvPr/>
        </p:nvSpPr>
        <p:spPr>
          <a:xfrm>
            <a:off x="7406640" y="470916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 of 16</a:t>
            </a:r>
            <a:endParaRPr lang="en-US" sz="3400" dirty="0"/>
          </a:p>
        </p:txBody>
      </p:sp>
      <p:sp>
        <p:nvSpPr>
          <p:cNvPr id="10" name="Text 7"/>
          <p:cNvSpPr txBox="1"/>
          <p:nvPr/>
        </p:nvSpPr>
        <p:spPr>
          <a:xfrm>
            <a:off x="7406640" y="544068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posts report a boundary wall, all coded complete; Attock and Murree (6 posts) show “-”</a:t>
            </a:r>
            <a:endParaRPr lang="en-US" sz="1400" dirty="0"/>
          </a:p>
        </p:txBody>
      </p:sp>
      <p:sp>
        <p:nvSpPr>
          <p:cNvPr id="11" name="Source note"/>
          <p:cNvSpPr txBox="1"/>
          <p:nvPr/>
        </p:nvSpPr>
        <p:spPr>
          <a:xfrm>
            <a:off x="548640" y="605332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Lakhani 13, Jhangi 12, Qabool Khel 8 and Kundal 8 cameras: 41 in total, with no arrests, seizures or recoveries at any of the four posts.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Data quality: totals reconcile, but six issues limit what the BCP numbers can show</a:t>
            </a:r>
            <a:endParaRPr lang="en-US" sz="26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167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754880"/>
                <a:gridCol w="3959352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Issue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Where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Why it matters / action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2E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B2620"/>
                          </a:solidFill>
                        </a:rPr>
                        <a:t>Swapped coordinates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620"/>
                          </a:solidFill>
                        </a:rPr>
                        <a:t>6 posts: Shakardara, Qabool Khel, Daratang, Kundal, Chashma (Mianwali) and Bharmi Nawab have lat and long reversed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620"/>
                          </a:solidFill>
                        </a:rPr>
                        <a:t>Posts mis-plot on any map; correct before hotspot or route analysis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B2620"/>
                          </a:solidFill>
                        </a:rPr>
                        <a:t>Post listed twice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620"/>
                          </a:solidFill>
                        </a:rPr>
                        <a:t>Chashma Check Post is also Remote Search Park Chashma in the joint sheet: same location, staff, kit; Q1 CAs 4 here, 6 there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620"/>
                          </a:solidFill>
                        </a:rPr>
                        <a:t>25 personnel may be double counted; reconcile performance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B2620"/>
                          </a:solidFill>
                        </a:rPr>
                        <a:t>Cameras not recorded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620"/>
                          </a:solidFill>
                        </a:rPr>
                        <a:t>Ghora Gali, Upper Dewal and Lower Dewal are blank; Barian has 1 camera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620"/>
                          </a:solidFill>
                        </a:rPr>
                        <a:t>Surveillance in Murree cannot be assessed; record status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B2620"/>
                          </a:solidFill>
                        </a:rPr>
                        <a:t>Wall status missing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620"/>
                          </a:solidFill>
                        </a:rPr>
                        <a:t>6 posts show “-” (2 Attock, 4 Murree); the other 10 are coded 1; header asks for % complete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620"/>
                          </a:solidFill>
                        </a:rPr>
                        <a:t>Standardise to % complete so progress can be tracked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B2620"/>
                          </a:solidFill>
                        </a:rPr>
                        <a:t>Blank versus zero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620"/>
                          </a:solidFill>
                        </a:rPr>
                        <a:t>Pistols, rifles, pump-action guns and vehicles are “-” at many posts, for example both ACLC posts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620"/>
                          </a:solidFill>
                        </a:rPr>
                        <a:t>Separate zero from not reported before comparing kit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B2620"/>
                          </a:solidFill>
                        </a:rPr>
                        <a:t>“TOs” undefined, flat pattern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620"/>
                          </a:solidFill>
                        </a:rPr>
                        <a:t>49 of 107 arrests (46%); Daratang reports 6, 6, 6; no Afghan arrests at any post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620"/>
                          </a:solidFill>
                        </a:rPr>
                        <a:t>Define the term; validate the flat quarterly pattern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ource note"/>
          <p:cNvSpPr txBox="1"/>
          <p:nvPr/>
        </p:nvSpPr>
        <p:spPr>
          <a:xfrm>
            <a:off x="548640" y="6126480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Checks run on the sheet: every total row re-computed from post rows (all match); no hidden rows or columns; formulas only in the total row.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Recommended actions: question the four silent posts, back the three that deliver, define Murree, fix the data</a:t>
            </a:r>
            <a:endParaRPr lang="en-US" sz="2600" dirty="0"/>
          </a:p>
        </p:txBody>
      </p:sp>
      <p:sp>
        <p:nvSpPr>
          <p:cNvPr id="3" name="Marker 1"/>
          <p:cNvSpPr/>
          <p:nvPr/>
        </p:nvSpPr>
        <p:spPr>
          <a:xfrm>
            <a:off x="548640" y="164592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1600200"/>
            <a:ext cx="4114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 the four heavy, silent posts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5532120" y="1600200"/>
            <a:ext cx="61081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Qabool Khel, Kundal, Jhangi, Lakhani: 151 personnel (43%), 79 elite, no output. Confirm mandates; redeploy or set screening KPIs.</a:t>
            </a:r>
            <a:endParaRPr lang="en-US" sz="1400" dirty="0"/>
          </a:p>
        </p:txBody>
      </p:sp>
      <p:sp>
        <p:nvSpPr>
          <p:cNvPr id="7" name="Marker 2"/>
          <p:cNvSpPr/>
          <p:nvPr/>
        </p:nvSpPr>
        <p:spPr>
          <a:xfrm>
            <a:off x="548640" y="2532888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5328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280160" y="2487168"/>
            <a:ext cx="4114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Define Murree’s role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5532120" y="2487168"/>
            <a:ext cx="61081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Four posts of 5 personnel report nothing and have almost no camera data. Decide whether 20 personnel are needed or add measures.</a:t>
            </a:r>
            <a:endParaRPr lang="en-US" sz="1400" dirty="0"/>
          </a:p>
        </p:txBody>
      </p:sp>
      <p:sp>
        <p:nvSpPr>
          <p:cNvPr id="11" name="Marker 3"/>
          <p:cNvSpPr/>
          <p:nvPr/>
        </p:nvSpPr>
        <p:spPr>
          <a:xfrm>
            <a:off x="548640" y="3419856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34198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280160" y="3374136"/>
            <a:ext cx="4114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 the three arrest posts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5532120" y="3374136"/>
            <a:ext cx="61081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Daratang, Shakardara and Chashma make 95% of arrests. Shakardara has 2 jackets for 20 staff; Chashma is double-listed.</a:t>
            </a:r>
            <a:endParaRPr lang="en-US" sz="1400" dirty="0"/>
          </a:p>
        </p:txBody>
      </p:sp>
      <p:sp>
        <p:nvSpPr>
          <p:cNvPr id="15" name="Marker 4"/>
          <p:cNvSpPr/>
          <p:nvPr/>
        </p:nvSpPr>
        <p:spPr>
          <a:xfrm>
            <a:off x="548640" y="4306824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43068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280160" y="4261104"/>
            <a:ext cx="4114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Link Attock’s narcotics to arrests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5532120" y="4261104"/>
            <a:ext cx="61081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19.4 kg seized at the two ACLC posts and no arrests. Trace case registration and link recoveries to accused.</a:t>
            </a:r>
            <a:endParaRPr lang="en-US" sz="1400" dirty="0"/>
          </a:p>
        </p:txBody>
      </p:sp>
      <p:sp>
        <p:nvSpPr>
          <p:cNvPr id="19" name="Marker 5"/>
          <p:cNvSpPr/>
          <p:nvPr/>
        </p:nvSpPr>
        <p:spPr>
          <a:xfrm>
            <a:off x="548640" y="5193792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8640" y="51937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280160" y="5148072"/>
            <a:ext cx="4114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Fix the data and add border KPIs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5532120" y="5148072"/>
            <a:ext cx="61081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6 coordinates, Chashma, Murree cameras, wall status, blanks. Track weapons recovered and checks, not only arrests.</a:t>
            </a:r>
            <a:endParaRPr lang="en-US" sz="1400" dirty="0"/>
          </a:p>
        </p:txBody>
      </p:sp>
      <p:sp>
        <p:nvSpPr>
          <p:cNvPr id="23" name="Source note"/>
          <p:cNvSpPr txBox="1"/>
          <p:nvPr/>
        </p:nvSpPr>
        <p:spPr>
          <a:xfrm>
            <a:off x="548640" y="605332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Recommendations are directional: they rest on reported counts only and need validation against post mandates and local context.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Quarterly KPI baseline: arrests slip each quarter while weapons recoveries rise</a:t>
            </a:r>
            <a:endParaRPr lang="en-US" sz="26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1672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1371600"/>
                <a:gridCol w="1371600"/>
                <a:gridCol w="1371600"/>
                <a:gridCol w="2770632"/>
              </a:tblGrid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KPI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Q1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Q2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Q3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Nine months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2E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B2620"/>
                          </a:solidFill>
                        </a:rPr>
                        <a:t>Arrests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620"/>
                          </a:solidFill>
                        </a:rPr>
                        <a:t>39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620"/>
                          </a:solidFill>
                        </a:rPr>
                        <a:t>35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620"/>
                          </a:solidFill>
                        </a:rPr>
                        <a:t>33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620"/>
                          </a:solidFill>
                        </a:rPr>
                        <a:t>107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B2620"/>
                          </a:solidFill>
                        </a:rPr>
                        <a:t>Arrests per person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620"/>
                          </a:solidFill>
                        </a:rPr>
                        <a:t>0.11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620"/>
                          </a:solidFill>
                        </a:rPr>
                        <a:t>0.10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620"/>
                          </a:solidFill>
                        </a:rPr>
                        <a:t>0.09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620"/>
                          </a:solidFill>
                        </a:rPr>
                        <a:t>0.30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B2620"/>
                          </a:solidFill>
                        </a:rPr>
                        <a:t>Proclaimed offenders (PO)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620"/>
                          </a:solidFill>
                        </a:rPr>
                        <a:t>14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620"/>
                          </a:solidFill>
                        </a:rPr>
                        <a:t>10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620"/>
                          </a:solidFill>
                        </a:rPr>
                        <a:t>10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620"/>
                          </a:solidFill>
                        </a:rPr>
                        <a:t>34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B2620"/>
                          </a:solidFill>
                        </a:rPr>
                        <a:t>Court absconders (CA)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620"/>
                          </a:solidFill>
                        </a:rPr>
                        <a:t>9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620"/>
                          </a:solidFill>
                        </a:rPr>
                        <a:t>7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620"/>
                          </a:solidFill>
                        </a:rPr>
                        <a:t>8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620"/>
                          </a:solidFill>
                        </a:rPr>
                        <a:t>24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B2620"/>
                          </a:solidFill>
                        </a:rPr>
                        <a:t>TOs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620"/>
                          </a:solidFill>
                        </a:rPr>
                        <a:t>16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620"/>
                          </a:solidFill>
                        </a:rPr>
                        <a:t>18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620"/>
                          </a:solidFill>
                        </a:rPr>
                        <a:t>15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620"/>
                          </a:solidFill>
                        </a:rPr>
                        <a:t>49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B2620"/>
                          </a:solidFill>
                        </a:rPr>
                        <a:t>Narcotics, kg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620"/>
                          </a:solidFill>
                        </a:rPr>
                        <a:t>1.6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620"/>
                          </a:solidFill>
                        </a:rPr>
                        <a:t>14.2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620"/>
                          </a:solidFill>
                        </a:rPr>
                        <a:t>4.0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620"/>
                          </a:solidFill>
                        </a:rPr>
                        <a:t>19.9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B2620"/>
                          </a:solidFill>
                        </a:rPr>
                        <a:t>Weapons recovered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620"/>
                          </a:solidFill>
                        </a:rPr>
                        <a:t>4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620"/>
                          </a:solidFill>
                        </a:rPr>
                        <a:t>6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620"/>
                          </a:solidFill>
                        </a:rPr>
                        <a:t>10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620"/>
                          </a:solidFill>
                        </a:rPr>
                        <a:t>20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B2620"/>
                          </a:solidFill>
                        </a:rPr>
                        <a:t>Rounds recovered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620"/>
                          </a:solidFill>
                        </a:rPr>
                        <a:t>12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620"/>
                          </a:solidFill>
                        </a:rPr>
                        <a:t>21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620"/>
                          </a:solidFill>
                        </a:rPr>
                        <a:t>25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620"/>
                          </a:solidFill>
                        </a:rPr>
                        <a:t>58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B2620"/>
                          </a:solidFill>
                        </a:rPr>
                        <a:t>Posts reporting some output (of 16)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620"/>
                          </a:solidFill>
                        </a:rPr>
                        <a:t>6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620"/>
                          </a:solidFill>
                        </a:rPr>
                        <a:t>7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620"/>
                          </a:solidFill>
                        </a:rPr>
                        <a:t>7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620"/>
                          </a:solidFill>
                        </a:rPr>
                        <a:t>8 posts none in any quarter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ource note"/>
          <p:cNvSpPr txBox="1"/>
          <p:nvPr/>
        </p:nvSpPr>
        <p:spPr>
          <a:xfrm>
            <a:off x="548640" y="5760720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Per-person figures use 355 deployed police (elite and regular). Output = any arrest, narcotics, weapon or ammunition recovery.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Appendix A: Border check post scorecard, Q1–Q3 2026</a:t>
            </a:r>
            <a:endParaRPr lang="en-US" sz="26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11091672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3246120"/>
                <a:gridCol w="685800"/>
                <a:gridCol w="914400"/>
                <a:gridCol w="640080"/>
                <a:gridCol w="640080"/>
                <a:gridCol w="1280160"/>
                <a:gridCol w="685800"/>
                <a:gridCol w="685800"/>
                <a:gridCol w="1170432"/>
              </a:tblGrid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District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Post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Staff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Arrests Q1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Q2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Q3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Narcotics kg Q1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Q2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Q3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Weapons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2E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Attock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ACLC Jhari Kass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16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1.1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10.8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3.5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Attock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ACLC Kotkay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13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0.0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3.4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0.5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Murree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Barian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5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0.0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0.0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0.0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Murree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Ghora Gali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5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0.0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0.0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0.0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Murree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Upper Dewal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5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0.0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0.0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0.0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Murree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Lower Dewal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5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0.0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0.0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0.0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Mianwali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Shakardara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20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10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11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8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0.0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0.0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0.0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Mianwali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Qabool Khel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37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0.0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0.0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0.0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Mianwali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Daratang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36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19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15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18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0.5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0.0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0.0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Mianwali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Kundal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36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0.0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0.0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0.0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Mianwali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Chashma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25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8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7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6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0.0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0.0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0.0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3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Bhakkar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Bharmi Nawab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20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2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0.0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0.0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0.0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2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Bhakkar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Pattan Kanial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20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0.0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0.0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0.0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4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Bhakkar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Rohila Gharbi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34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2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0.0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0.0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0.0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10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D.G. Khan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Jhangi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30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0.0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0.0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0.0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D.G. Khan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Lakhani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48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0.0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0.0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0.0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B2620"/>
                          </a:solidFill>
                        </a:rPr>
                        <a:t>Total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B2620"/>
                          </a:solidFill>
                        </a:rPr>
                        <a:t>355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B2620"/>
                          </a:solidFill>
                        </a:rPr>
                        <a:t>39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B2620"/>
                          </a:solidFill>
                        </a:rPr>
                        <a:t>35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B2620"/>
                          </a:solidFill>
                        </a:rPr>
                        <a:t>33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B2620"/>
                          </a:solidFill>
                        </a:rPr>
                        <a:t>1.6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B2620"/>
                          </a:solidFill>
                        </a:rPr>
                        <a:t>14.2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B2620"/>
                          </a:solidFill>
                        </a:rPr>
                        <a:t>4.0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B2620"/>
                          </a:solidFill>
                        </a:rPr>
                        <a:t>20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0"/>
                    </a:solidFill>
                  </a:tcPr>
                </a:tc>
              </a:tr>
            </a:tbl>
          </a:graphicData>
        </a:graphic>
      </p:graphicFrame>
      <p:sp>
        <p:nvSpPr>
          <p:cNvPr id="4" name="Source note"/>
          <p:cNvSpPr txBox="1"/>
          <p:nvPr/>
        </p:nvSpPr>
        <p:spPr>
          <a:xfrm>
            <a:off x="548640" y="605332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Staff = elite plus regular police deployed. Arrests = POs, CAs, TOs and illegal Afghan nationals. Narcotics = chars, opium, heroin and ICE. Weapons = pistols, rifles, pump-action guns and K.Kove, nine months.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Appendix B: Border check post deployment and equipment</a:t>
            </a:r>
            <a:endParaRPr lang="en-US" sz="26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11091672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548640"/>
                <a:gridCol w="548640"/>
                <a:gridCol w="594360"/>
                <a:gridCol w="594360"/>
                <a:gridCol w="640080"/>
                <a:gridCol w="594360"/>
                <a:gridCol w="685800"/>
                <a:gridCol w="822960"/>
                <a:gridCol w="685800"/>
                <a:gridCol w="731520"/>
                <a:gridCol w="548640"/>
                <a:gridCol w="1417320"/>
                <a:gridCol w="822960"/>
              </a:tblGrid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Post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Staff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Elite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Points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Shifts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Pistols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Rifles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K.Kove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Rounds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Jackets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Vehicles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Bikes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CCTV (working / installed)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Wall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2E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ACLC Jhari Kass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16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6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3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2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–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–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3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180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6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–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–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5 / 5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–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ACLC Kotkay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13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6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3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2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–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–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2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120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6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–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–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2 / 2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–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Barian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5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2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–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4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–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240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4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–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–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1 / 1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–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Ghora Gali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5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2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–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4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–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240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4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–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–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–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–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Upper Dewal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5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2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–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4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–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240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4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–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–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–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–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Lower Dewal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5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2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–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4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–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240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4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–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–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–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–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Shakardara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20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8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4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2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10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14,800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2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8 / 8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Complete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Qabool Khel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37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23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4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3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15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16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15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16,477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28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–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8 / 8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Complete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Daratang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36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18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4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2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8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9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11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6,000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25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8 / 8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Complete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Kundal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36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8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3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7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12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30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15,045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17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2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8 / 8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Complete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Chashma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25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9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2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7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4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16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10,049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17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7 / 7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Complete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Bharmi Nawab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20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3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3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12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23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11,930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25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3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12 / 12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Complete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Pattan Kanial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20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3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3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–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12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23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11,250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10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3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12 / 12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Complete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Rohila Gharbi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34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7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3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3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–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12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23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13,000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20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3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8 / 8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Complete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Jhangi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30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17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4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3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6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12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19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15,800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33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3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–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12 / 12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Complete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Lakhani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48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31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4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3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8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24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32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19,437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41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3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13 / 13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Complete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B2620"/>
                          </a:solidFill>
                        </a:rPr>
                        <a:t>Total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B2620"/>
                          </a:solidFill>
                        </a:rPr>
                        <a:t>355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B2620"/>
                          </a:solidFill>
                        </a:rPr>
                        <a:t>133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B2620"/>
                          </a:solidFill>
                        </a:rPr>
                        <a:t>38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B2620"/>
                          </a:solidFill>
                        </a:rPr>
                        <a:t>41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B2620"/>
                          </a:solidFill>
                        </a:rPr>
                        <a:t>53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B2620"/>
                          </a:solidFill>
                        </a:rPr>
                        <a:t>139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B2620"/>
                          </a:solidFill>
                        </a:rPr>
                        <a:t>197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B2620"/>
                          </a:solidFill>
                        </a:rPr>
                        <a:t>135,048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B2620"/>
                          </a:solidFill>
                        </a:rPr>
                        <a:t>246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B2620"/>
                          </a:solidFill>
                        </a:rPr>
                        <a:t>13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B2620"/>
                          </a:solidFill>
                        </a:rPr>
                        <a:t>12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B2620"/>
                          </a:solidFill>
                        </a:rPr>
                        <a:t>104 / 104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0"/>
                    </a:solidFill>
                  </a:tcPr>
                </a:tc>
              </a:tr>
            </a:tbl>
          </a:graphicData>
        </a:graphic>
      </p:graphicFrame>
      <p:sp>
        <p:nvSpPr>
          <p:cNvPr id="4" name="Source note"/>
          <p:cNvSpPr txBox="1"/>
          <p:nvPr/>
        </p:nvSpPr>
        <p:spPr>
          <a:xfrm>
            <a:off x="548640" y="605332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– = blank in the workbook. Pump-action guns (12) and tear-gas guns (8) are in the workbook but omitted here for width.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eck Post Review">
  <a:themeElements>
    <a:clrScheme name="Check Post Review">
      <a:dk1>
        <a:srgbClr val="1B2620"/>
      </a:dk1>
      <a:lt1>
        <a:srgbClr val="FFFFFF"/>
      </a:lt1>
      <a:dk2>
        <a:srgbClr val="0B3D2E"/>
      </a:dk2>
      <a:lt2>
        <a:srgbClr val="EEF3F0"/>
      </a:lt2>
      <a:accent1>
        <a:srgbClr val="197A56"/>
      </a:accent1>
      <a:accent2>
        <a:srgbClr val="2EB67D"/>
      </a:accent2>
      <a:accent3>
        <a:srgbClr val="A8DBC3"/>
      </a:accent3>
      <a:accent4>
        <a:srgbClr val="5E6A64"/>
      </a:accent4>
      <a:accent5>
        <a:srgbClr val="C9D3CD"/>
      </a:accent5>
      <a:accent6>
        <a:srgbClr val="C8553D"/>
      </a:accent6>
      <a:hlink>
        <a:srgbClr val="197A56"/>
      </a:hlink>
      <a:folHlink>
        <a:srgbClr val="5E6A64"/>
      </a:folHlink>
    </a:clrScheme>
    <a:fontScheme name="Check Post Review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Border Check Posts: performance review, Q1-Q3 2026</dc:title>
  <dc:subject>PptxGenJS Presentation</dc:subject>
  <dc:creator>Analysis</dc:creator>
  <cp:lastModifiedBy>Analysis</cp:lastModifiedBy>
  <cp:revision>1</cp:revision>
  <dcterms:created xsi:type="dcterms:W3CDTF">2026-10-08T11:40:22Z</dcterms:created>
  <dcterms:modified xsi:type="dcterms:W3CDTF">2026-10-08T11:40:22Z</dcterms:modified>
</cp:coreProperties>
</file>