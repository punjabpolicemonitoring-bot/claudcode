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3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4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5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6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7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8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9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10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charts/chart11.xml" ContentType="application/vnd.openxmlformats-officedocument.drawingml.chart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_rels/chart1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Personnel</c:v>
                </c:pt>
              </c:strCache>
            </c:strRef>
          </c:tx>
          <c:spPr>
            <a:solidFill>
              <a:srgbClr val="B9C0B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2000" u="none">
                    <a:solidFill>
                      <a:srgbClr val="1E2622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B9C0BC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B7F5C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B9C0BC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B9C0BC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B9C0BC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B9C0BC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B9C0BC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B9C0BC"/>
              </a:solidFill>
              <a:effectLst/>
            </c:spPr>
          </c:dPt>
          <c:cat>
            <c:multiLvlStrRef>
              <c:f>Sheet1!$A$2:$A$9</c:f>
              <c:multiLvlStrCache>
                <c:ptCount val="8"/>
                <c:lvl>
                  <c:pt idx="0">
                    <c:v>Rangers</c:v>
                  </c:pt>
                  <c:pt idx="1">
                    <c:v>Police</c:v>
                  </c:pt>
                  <c:pt idx="2">
                    <c:v>Customs</c:v>
                  </c:pt>
                  <c:pt idx="3">
                    <c:v>Food</c:v>
                  </c:pt>
                  <c:pt idx="4">
                    <c:v>Health</c:v>
                  </c:pt>
                  <c:pt idx="5">
                    <c:v>Special Branch</c:v>
                  </c:pt>
                  <c:pt idx="6">
                    <c:v>Agriculture</c:v>
                  </c:pt>
                  <c:pt idx="7">
                    <c:v>SPU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270</c:v>
                </c:pt>
                <c:pt idx="1">
                  <c:v>265</c:v>
                </c:pt>
                <c:pt idx="2">
                  <c:v>232</c:v>
                </c:pt>
                <c:pt idx="3">
                  <c:v>44</c:v>
                </c:pt>
                <c:pt idx="4">
                  <c:v>32</c:v>
                </c:pt>
                <c:pt idx="5">
                  <c:v>8</c:v>
                </c:pt>
                <c:pt idx="6">
                  <c:v>6</c:v>
                </c:pt>
                <c:pt idx="7">
                  <c:v>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2000" u="none">
                  <a:solidFill>
                    <a:srgbClr val="1E2622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800" b="0" i="0" u="none" strike="noStrike">
                <a:solidFill>
                  <a:srgbClr val="1E2622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30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5F6A65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Police</c:v>
                </c:pt>
              </c:strCache>
            </c:strRef>
          </c:tx>
          <c:spPr>
            <a:solidFill>
              <a:srgbClr val="1B7F5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2000" u="none">
                    <a:solidFill>
                      <a:srgbClr val="1E2622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B7F5C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B9C0BC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B9C0BC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B9C0BC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B9C0BC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B9C0BC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C8372D"/>
              </a:solidFill>
              <a:effectLst/>
            </c:spPr>
          </c:dPt>
          <c:cat>
            <c:multiLvlStrRef>
              <c:f>Sheet1!$A$2:$A$8</c:f>
              <c:multiLvlStrCache>
                <c:ptCount val="7"/>
                <c:lvl>
                  <c:pt idx="0">
                    <c:v>Mianwali (4 posts)</c:v>
                  </c:pt>
                  <c:pt idx="1">
                    <c:v>D.G.Khan (3 posts)</c:v>
                  </c:pt>
                  <c:pt idx="2">
                    <c:v>R.Y Khan (2 posts)</c:v>
                  </c:pt>
                  <c:pt idx="3">
                    <c:v>Attock (2 posts)</c:v>
                  </c:pt>
                  <c:pt idx="4">
                    <c:v>Bhakkar (1 post)</c:v>
                  </c:pt>
                  <c:pt idx="5">
                    <c:v>Rajanpur (2 posts)</c:v>
                  </c:pt>
                  <c:pt idx="6">
                    <c:v>Kot Addu (1 post)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61</c:v>
                </c:pt>
                <c:pt idx="1">
                  <c:v>50</c:v>
                </c:pt>
                <c:pt idx="2">
                  <c:v>46</c:v>
                </c:pt>
                <c:pt idx="3">
                  <c:v>44</c:v>
                </c:pt>
                <c:pt idx="4">
                  <c:v>39</c:v>
                </c:pt>
                <c:pt idx="5">
                  <c:v>20</c:v>
                </c:pt>
                <c:pt idx="6">
                  <c:v>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2000" u="none">
                  <a:solidFill>
                    <a:srgbClr val="1E2622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800" b="0" i="0" u="none" strike="noStrike">
                <a:solidFill>
                  <a:srgbClr val="1E2622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72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5F6A65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Personnel</c:v>
                </c:pt>
              </c:strCache>
            </c:strRef>
          </c:tx>
          <c:spPr>
            <a:solidFill>
              <a:srgbClr val="1B7F5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2000" u="none">
                    <a:solidFill>
                      <a:srgbClr val="1E2622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B7F5C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B9C0BC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B9C0BC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B9C0BC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Constables</c:v>
                  </c:pt>
                  <c:pt idx="1">
                    <c:v>Head Constables</c:v>
                  </c:pt>
                  <c:pt idx="2">
                    <c:v>ASIs</c:v>
                  </c:pt>
                  <c:pt idx="3">
                    <c:v>SIs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203</c:v>
                </c:pt>
                <c:pt idx="1">
                  <c:v>30</c:v>
                </c:pt>
                <c:pt idx="2">
                  <c:v>22</c:v>
                </c:pt>
                <c:pt idx="3">
                  <c:v>10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2000" u="none">
                  <a:solidFill>
                    <a:srgbClr val="1E2622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800" b="0" i="0" u="none" strike="noStrike">
                <a:solidFill>
                  <a:srgbClr val="1E2622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50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5F6A65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Jackets per 100</c:v>
                </c:pt>
              </c:strCache>
            </c:strRef>
          </c:tx>
          <c:spPr>
            <a:solidFill>
              <a:srgbClr val="C8372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2000" u="none">
                    <a:solidFill>
                      <a:srgbClr val="1E2622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C8372D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B9C0BC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B9C0BC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B9C0BC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B9C0BC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B9C0BC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Khushal Garh</c:v>
                  </c:pt>
                  <c:pt idx="1">
                    <c:v>Kotsabzal</c:v>
                  </c:pt>
                  <c:pt idx="2">
                    <c:v>Railway Pull</c:v>
                  </c:pt>
                  <c:pt idx="3">
                    <c:v>Kot Mithan</c:v>
                  </c:pt>
                  <c:pt idx="4">
                    <c:v>Jinah Barrage</c:v>
                  </c:pt>
                  <c:pt idx="5">
                    <c:v>Head Taunsa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26</c:v>
                </c:pt>
                <c:pt idx="1">
                  <c:v>27</c:v>
                </c:pt>
                <c:pt idx="2">
                  <c:v>33</c:v>
                </c:pt>
                <c:pt idx="3">
                  <c:v>36</c:v>
                </c:pt>
                <c:pt idx="4">
                  <c:v>40</c:v>
                </c:pt>
                <c:pt idx="5">
                  <c:v>40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2000" u="none">
                  <a:solidFill>
                    <a:srgbClr val="1E2622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800" b="0" i="0" u="none" strike="noStrike">
                <a:solidFill>
                  <a:srgbClr val="1E2622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0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5F6A65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Weapons</c:v>
                </c:pt>
              </c:strCache>
            </c:strRef>
          </c:tx>
          <c:spPr>
            <a:solidFill>
              <a:srgbClr val="1B7F5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2000" u="none">
                    <a:solidFill>
                      <a:srgbClr val="1E2622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B7F5C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B7F5C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B9C0BC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B9C0BC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B9C0BC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Kalashnikovs</c:v>
                  </c:pt>
                  <c:pt idx="1">
                    <c:v>Rifles</c:v>
                  </c:pt>
                  <c:pt idx="2">
                    <c:v>Pistols</c:v>
                  </c:pt>
                  <c:pt idx="3">
                    <c:v>Tear-gas guns</c:v>
                  </c:pt>
                  <c:pt idx="4">
                    <c:v>Pump-action guns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94</c:v>
                </c:pt>
                <c:pt idx="1">
                  <c:v>85</c:v>
                </c:pt>
                <c:pt idx="2">
                  <c:v>15</c:v>
                </c:pt>
                <c:pt idx="3">
                  <c:v>12</c:v>
                </c:pt>
                <c:pt idx="4">
                  <c:v>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2000" u="none">
                  <a:solidFill>
                    <a:srgbClr val="1E2622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800" b="0" i="0" u="none" strike="noStrike">
                <a:solidFill>
                  <a:srgbClr val="1E2622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5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5F6A65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Working / complete</c:v>
                </c:pt>
              </c:strCache>
            </c:strRef>
          </c:tx>
          <c:spPr>
            <a:solidFill>
              <a:srgbClr val="1B7F5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200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Cameras (121)</c:v>
                  </c:pt>
                  <c:pt idx="1">
                    <c:v>Walls (15 posts)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110</c:v>
                </c:pt>
                <c:pt idx="1">
                  <c:v>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Faulty / incomplete</c:v>
                </c:pt>
              </c:strCache>
            </c:strRef>
          </c:tx>
          <c:spPr>
            <a:solidFill>
              <a:srgbClr val="C8372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200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Cameras (121)</c:v>
                  </c:pt>
                  <c:pt idx="1">
                    <c:v>Walls (15 posts)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2</c:v>
                </c:pt>
                <c:pt idx="1">
                  <c:v>2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None / unreported</c:v>
                </c:pt>
              </c:strCache>
            </c:strRef>
          </c:tx>
          <c:spPr>
            <a:solidFill>
              <a:srgbClr val="7C878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200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Cameras (121)</c:v>
                  </c:pt>
                  <c:pt idx="1">
                    <c:v>Walls (15 posts)</c:v>
                  </c:pt>
                </c:lvl>
              </c:multiLvlStrCache>
            </c:multiLvl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9</c:v>
                </c:pt>
                <c:pt idx="1">
                  <c:v>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2000" u="none">
                  <a:solidFill>
                    <a:srgbClr val="FFFFFF"/>
                  </a:solidFill>
                  <a:latin typeface="+mn-lt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10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800" b="0" i="0" u="none" strike="noStrike">
                <a:solidFill>
                  <a:srgbClr val="1E2622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5F6A65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POs</c:v>
                </c:pt>
              </c:strCache>
            </c:strRef>
          </c:tx>
          <c:spPr>
            <a:solidFill>
              <a:srgbClr val="0F5A3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80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Jan–Mar</c:v>
                  </c:pt>
                  <c:pt idx="1">
                    <c:v>Apr–Jun</c:v>
                  </c:pt>
                  <c:pt idx="2">
                    <c:v>Jul–Sep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24</c:v>
                </c:pt>
                <c:pt idx="1">
                  <c:v>41</c:v>
                </c:pt>
                <c:pt idx="2">
                  <c:v>30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CAs</c:v>
                </c:pt>
              </c:strCache>
            </c:strRef>
          </c:tx>
          <c:spPr>
            <a:solidFill>
              <a:srgbClr val="4C9F7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80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Jan–Mar</c:v>
                  </c:pt>
                  <c:pt idx="1">
                    <c:v>Apr–Jun</c:v>
                  </c:pt>
                  <c:pt idx="2">
                    <c:v>Jul–Sep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15</c:v>
                </c:pt>
                <c:pt idx="1">
                  <c:v>14</c:v>
                </c:pt>
                <c:pt idx="2">
                  <c:v>12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TOs</c:v>
                </c:pt>
              </c:strCache>
            </c:strRef>
          </c:tx>
          <c:spPr>
            <a:solidFill>
              <a:srgbClr val="7C878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80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Jan–Mar</c:v>
                  </c:pt>
                  <c:pt idx="1">
                    <c:v>Apr–Jun</c:v>
                  </c:pt>
                  <c:pt idx="2">
                    <c:v>Jul–Sep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137</c:v>
                </c:pt>
                <c:pt idx="1">
                  <c:v>133</c:v>
                </c:pt>
                <c:pt idx="2">
                  <c:v>213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800" u="none">
                  <a:solidFill>
                    <a:srgbClr val="FFFFFF"/>
                  </a:solidFill>
                  <a:latin typeface="+mn-lt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100"/>
        <c:axId val="2094734554"/>
        <c:axId val="2094734552"/>
        <c:axId val="2094734556"/>
      </c:barChart>
      <c:lineChart>
        <c:varyColors val="0"/>
        <c:ser>
          <c:idx val="3"/>
          <c:order val="3"/>
          <c:tx>
            <c:strRef>
              <c:f>Sheet1!$E$1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rgbClr val="FFFFFF"/>
            </a:solidFill>
            <a:ln>
              <a:noFill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2200" u="none">
                    <a:solidFill>
                      <a:srgbClr val="1E2622"/>
                    </a:solidFill>
                    <a:latin typeface="+mn-lt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FFFFFF"/>
              </a:solidFill>
              <a:ln w="9525" cap="flat">
                <a:solidFill>
                  <a:srgbClr val="FFFFF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Jan–Mar</c:v>
                  </c:pt>
                  <c:pt idx="1">
                    <c:v>Apr–Jun</c:v>
                  </c:pt>
                  <c:pt idx="2">
                    <c:v>Jul–Sep</c:v>
                  </c:pt>
                </c:lvl>
              </c:multiLvlStrCache>
            </c:multiLvlStrRef>
          </c:cat>
          <c:val>
            <c:numRef>
              <c:f>Sheet1!$E$2:$E$4</c:f>
              <c:numCache>
                <c:formatCode>General</c:formatCode>
                <c:ptCount val="3"/>
                <c:pt idx="0">
                  <c:v>176</c:v>
                </c:pt>
                <c:pt idx="1">
                  <c:v>188</c:v>
                </c:pt>
                <c:pt idx="2">
                  <c:v>255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1" i="0" strike="noStrike" sz="2200" u="none">
                  <a:solidFill>
                    <a:srgbClr val="1E2622"/>
                  </a:solidFill>
                  <a:latin typeface="+mn-lt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800" b="0" i="0" u="none" strike="noStrike">
                <a:solidFill>
                  <a:srgbClr val="1E2622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75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5F6A65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Afghan nationals</c:v>
                </c:pt>
              </c:strCache>
            </c:strRef>
          </c:tx>
          <c:spPr>
            <a:solidFill>
              <a:srgbClr val="B9C0B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2400" u="none">
                    <a:solidFill>
                      <a:srgbClr val="1E2622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B9C0BC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B9C0BC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B7F5C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Jan–Mar</c:v>
                  </c:pt>
                  <c:pt idx="1">
                    <c:v>Apr–Jun</c:v>
                  </c:pt>
                  <c:pt idx="2">
                    <c:v>Jul–Sep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42</c:v>
                </c:pt>
                <c:pt idx="1">
                  <c:v>10</c:v>
                </c:pt>
                <c:pt idx="2">
                  <c:v>284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2400" u="none">
                  <a:solidFill>
                    <a:srgbClr val="1E2622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800" b="0" i="0" u="none" strike="noStrike">
                <a:solidFill>
                  <a:srgbClr val="1E2622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20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5F6A65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Chars</c:v>
                </c:pt>
              </c:strCache>
            </c:strRef>
          </c:tx>
          <c:spPr>
            <a:solidFill>
              <a:srgbClr val="0F5A3F"/>
            </a:solidFill>
            <a:effectLst/>
          </c:spPr>
          <c:invertIfNegative val="0"/>
          <c:dLbls>
            <c:numFmt formatCode="0.0;;;" sourceLinked="0"/>
            <c:txPr>
              <a:bodyPr/>
              <a:lstStyle/>
              <a:p>
                <a:pPr>
                  <a:defRPr b="0" i="0" strike="noStrike" sz="1600" u="none">
                    <a:solidFill>
                      <a:srgbClr val="1E2622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Jan–Mar
96.8 kg in all</c:v>
                  </c:pt>
                  <c:pt idx="1">
                    <c:v>Apr–Jun
197.2 kg in all</c:v>
                  </c:pt>
                  <c:pt idx="2">
                    <c:v>Jul–Sep
38.9 kg in all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89.1</c:v>
                </c:pt>
                <c:pt idx="1">
                  <c:v>183.2</c:v>
                </c:pt>
                <c:pt idx="2">
                  <c:v>35.8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ICE</c:v>
                </c:pt>
              </c:strCache>
            </c:strRef>
          </c:tx>
          <c:spPr>
            <a:solidFill>
              <a:srgbClr val="4C9F7A"/>
            </a:solidFill>
            <a:effectLst/>
          </c:spPr>
          <c:invertIfNegative val="0"/>
          <c:dLbls>
            <c:numFmt formatCode="0.0;;;" sourceLinked="0"/>
            <c:txPr>
              <a:bodyPr/>
              <a:lstStyle/>
              <a:p>
                <a:pPr>
                  <a:defRPr b="0" i="0" strike="noStrike" sz="1600" u="none">
                    <a:solidFill>
                      <a:srgbClr val="1E2622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Jan–Mar
96.8 kg in all</c:v>
                  </c:pt>
                  <c:pt idx="1">
                    <c:v>Apr–Jun
197.2 kg in all</c:v>
                  </c:pt>
                  <c:pt idx="2">
                    <c:v>Jul–Sep
38.9 kg in all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3.5</c:v>
                </c:pt>
                <c:pt idx="1">
                  <c:v>14</c:v>
                </c:pt>
                <c:pt idx="2">
                  <c:v>1.8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Heroin and opium</c:v>
                </c:pt>
              </c:strCache>
            </c:strRef>
          </c:tx>
          <c:spPr>
            <a:solidFill>
              <a:srgbClr val="7C8782"/>
            </a:solidFill>
            <a:effectLst/>
          </c:spPr>
          <c:invertIfNegative val="0"/>
          <c:dLbls>
            <c:numFmt formatCode="0.0;;;" sourceLinked="0"/>
            <c:txPr>
              <a:bodyPr/>
              <a:lstStyle/>
              <a:p>
                <a:pPr>
                  <a:defRPr b="0" i="0" strike="noStrike" sz="1600" u="none">
                    <a:solidFill>
                      <a:srgbClr val="1E2622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Jan–Mar
96.8 kg in all</c:v>
                  </c:pt>
                  <c:pt idx="1">
                    <c:v>Apr–Jun
197.2 kg in all</c:v>
                  </c:pt>
                  <c:pt idx="2">
                    <c:v>Jul–Sep
38.9 kg in all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4.2</c:v>
                </c:pt>
                <c:pt idx="1">
                  <c:v>0</c:v>
                </c:pt>
                <c:pt idx="2">
                  <c:v>1.2</c:v>
                </c:pt>
              </c:numCache>
            </c:numRef>
          </c:val>
        </c:ser>
        <c:dLbls>
          <c:numFmt formatCode="0.0;;;" sourceLinked="0"/>
          <c:txPr>
            <a:bodyPr/>
            <a:lstStyle/>
            <a:p>
              <a:pPr>
                <a:defRPr b="0" i="0" strike="noStrike" sz="1600" u="none">
                  <a:solidFill>
                    <a:srgbClr val="1E2622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800" b="0" i="0" u="none" strike="noStrike">
                <a:solidFill>
                  <a:srgbClr val="1E2622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15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5F6A65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Pistols</c:v>
                </c:pt>
              </c:strCache>
            </c:strRef>
          </c:tx>
          <c:spPr>
            <a:solidFill>
              <a:srgbClr val="0F5A3F"/>
            </a:solidFill>
            <a:effectLst/>
          </c:spPr>
          <c:invertIfNegative val="0"/>
          <c:dLbls>
            <c:numFmt formatCode="0;;;" sourceLinked="0"/>
            <c:txPr>
              <a:bodyPr/>
              <a:lstStyle/>
              <a:p>
                <a:pPr>
                  <a:defRPr b="0" i="0" strike="noStrike" sz="2000" u="none">
                    <a:solidFill>
                      <a:srgbClr val="1E2622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Jan–Mar
8 in all</c:v>
                  </c:pt>
                  <c:pt idx="1">
                    <c:v>Apr–Jun
16 in all</c:v>
                  </c:pt>
                  <c:pt idx="2">
                    <c:v>Jul–Sep
9 in all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</c:v>
                </c:pt>
                <c:pt idx="1">
                  <c:v>15</c:v>
                </c:pt>
                <c:pt idx="2">
                  <c:v>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Kalashnikovs</c:v>
                </c:pt>
              </c:strCache>
            </c:strRef>
          </c:tx>
          <c:spPr>
            <a:solidFill>
              <a:srgbClr val="7C8782"/>
            </a:solidFill>
            <a:effectLst/>
          </c:spPr>
          <c:invertIfNegative val="0"/>
          <c:dLbls>
            <c:numFmt formatCode="0;;;" sourceLinked="0"/>
            <c:txPr>
              <a:bodyPr/>
              <a:lstStyle/>
              <a:p>
                <a:pPr>
                  <a:defRPr b="0" i="0" strike="noStrike" sz="2000" u="none">
                    <a:solidFill>
                      <a:srgbClr val="1E2622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Jan–Mar
8 in all</c:v>
                  </c:pt>
                  <c:pt idx="1">
                    <c:v>Apr–Jun
16 in all</c:v>
                  </c:pt>
                  <c:pt idx="2">
                    <c:v>Jul–Sep
9 in all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2</c:v>
                </c:pt>
                <c:pt idx="1">
                  <c:v>1</c:v>
                </c:pt>
                <c:pt idx="2">
                  <c:v>0</c:v>
                </c:pt>
              </c:numCache>
            </c:numRef>
          </c:val>
        </c:ser>
        <c:dLbls>
          <c:numFmt formatCode="0;;;" sourceLinked="0"/>
          <c:txPr>
            <a:bodyPr/>
            <a:lstStyle/>
            <a:p>
              <a:pPr>
                <a:defRPr b="0" i="0" strike="noStrike" sz="2000" u="none">
                  <a:solidFill>
                    <a:srgbClr val="1E2622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800" b="0" i="0" u="none" strike="noStrike">
                <a:solidFill>
                  <a:srgbClr val="1E2622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7.5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5F6A65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Arrests per person</c:v>
                </c:pt>
              </c:strCache>
            </c:strRef>
          </c:tx>
          <c:spPr>
            <a:solidFill>
              <a:srgbClr val="1B7F5C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2000" u="none">
                    <a:solidFill>
                      <a:srgbClr val="1E2622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B7F5C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B9C0BC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B9C0BC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B9C0BC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B9C0BC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Kot Tahir</c:v>
                  </c:pt>
                  <c:pt idx="1">
                    <c:v>Ghazi Ghat</c:v>
                  </c:pt>
                  <c:pt idx="2">
                    <c:v>Sakhi Sarwar</c:v>
                  </c:pt>
                  <c:pt idx="3">
                    <c:v>Daowala</c:v>
                  </c:pt>
                  <c:pt idx="4">
                    <c:v>Head Taunsa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6.9</c:v>
                </c:pt>
                <c:pt idx="1">
                  <c:v>3.8</c:v>
                </c:pt>
                <c:pt idx="2">
                  <c:v>3.7</c:v>
                </c:pt>
                <c:pt idx="3">
                  <c:v>1.6</c:v>
                </c:pt>
                <c:pt idx="4">
                  <c:v>1.5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2000" u="none">
                  <a:solidFill>
                    <a:srgbClr val="1E2622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800" b="0" i="0" u="none" strike="noStrike">
                <a:solidFill>
                  <a:srgbClr val="1E2622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.5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5F6A65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355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Source: District Police</a:t>
            </a:r>
            <a:endParaRPr lang="en-US" sz="14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822960" y="2011680"/>
            <a:ext cx="1051560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48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822960" y="3977640"/>
            <a:ext cx="1051560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4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37215" y="6355080"/>
            <a:ext cx="9144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400">
                <a:solidFill>
                  <a:schemeClr val="bg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355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Source: District Police</a:t>
            </a:r>
            <a:endParaRPr lang="en-US" sz="14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640080" y="365760"/>
            <a:ext cx="10911535" cy="9601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640080" y="1371600"/>
            <a:ext cx="10911535" cy="4114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37215" y="6355080"/>
            <a:ext cx="9144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37215" y="6355080"/>
            <a:ext cx="9144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400">
                <a:solidFill>
                  <a:schemeClr val="bg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8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9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0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822960" y="2011680"/>
            <a:ext cx="10515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Joint Check Posts</a:t>
            </a:r>
            <a:endParaRPr lang="en-US" sz="48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822960" y="39776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Quarterly performance, January to September 2026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37215" y="6355080"/>
            <a:ext cx="9144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400">
                <a:solidFill>
                  <a:schemeClr val="bg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640080" y="365760"/>
            <a:ext cx="1091153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numbers that define nine months at joint posts</a:t>
            </a:r>
            <a:endParaRPr lang="en-US" sz="30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640080" y="1371600"/>
            <a:ext cx="109115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Fifteen posts in seven districts, staffed by 863 police and partner personnel</a:t>
            </a:r>
            <a:endParaRPr lang="en-US" sz="1800" dirty="0"/>
          </a:p>
        </p:txBody>
      </p:sp>
      <p:sp>
        <p:nvSpPr>
          <p:cNvPr id="4" name="Card"/>
          <p:cNvSpPr/>
          <p:nvPr/>
        </p:nvSpPr>
        <p:spPr>
          <a:xfrm>
            <a:off x="640080" y="2286000"/>
            <a:ext cx="2560320" cy="3291840"/>
          </a:xfrm>
          <a:prstGeom prst="roundRect">
            <a:avLst>
              <a:gd name="adj" fmla="val 2857"/>
            </a:avLst>
          </a:prstGeom>
          <a:solidFill>
            <a:schemeClr val="accent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242316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619</a:t>
            </a:r>
            <a:endParaRPr lang="en-US" sz="54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3566160"/>
            <a:ext cx="210312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offenders arrested</a:t>
            </a:r>
            <a:endParaRPr lang="en-US" sz="2200" dirty="0"/>
          </a:p>
        </p:txBody>
      </p:sp>
      <p:sp>
        <p:nvSpPr>
          <p:cNvPr id="7" name="Card"/>
          <p:cNvSpPr/>
          <p:nvPr/>
        </p:nvSpPr>
        <p:spPr>
          <a:xfrm>
            <a:off x="3423818" y="2286000"/>
            <a:ext cx="2560320" cy="3291840"/>
          </a:xfrm>
          <a:prstGeom prst="roundRect">
            <a:avLst>
              <a:gd name="adj" fmla="val 2857"/>
            </a:avLst>
          </a:prstGeom>
          <a:solidFill>
            <a:schemeClr val="bg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652418" y="242316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336</a:t>
            </a:r>
            <a:endParaRPr lang="en-US" sz="5400" dirty="0"/>
          </a:p>
        </p:txBody>
      </p:sp>
      <p:sp>
        <p:nvSpPr>
          <p:cNvPr id="9" name="Text 7"/>
          <p:cNvSpPr txBox="1"/>
          <p:nvPr/>
        </p:nvSpPr>
        <p:spPr>
          <a:xfrm>
            <a:off x="3652418" y="3566160"/>
            <a:ext cx="210312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illegal Afghan nationals arrested</a:t>
            </a:r>
            <a:endParaRPr lang="en-US" sz="2200" dirty="0"/>
          </a:p>
        </p:txBody>
      </p:sp>
      <p:sp>
        <p:nvSpPr>
          <p:cNvPr id="10" name="Card"/>
          <p:cNvSpPr/>
          <p:nvPr/>
        </p:nvSpPr>
        <p:spPr>
          <a:xfrm>
            <a:off x="6207557" y="2286000"/>
            <a:ext cx="2560320" cy="3291840"/>
          </a:xfrm>
          <a:prstGeom prst="roundRect">
            <a:avLst>
              <a:gd name="adj" fmla="val 2857"/>
            </a:avLst>
          </a:prstGeom>
          <a:solidFill>
            <a:schemeClr val="bg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36157" y="242316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333 kg</a:t>
            </a:r>
            <a:endParaRPr lang="en-US" sz="5400" dirty="0"/>
          </a:p>
        </p:txBody>
      </p:sp>
      <p:sp>
        <p:nvSpPr>
          <p:cNvPr id="12" name="Text 10"/>
          <p:cNvSpPr txBox="1"/>
          <p:nvPr/>
        </p:nvSpPr>
        <p:spPr>
          <a:xfrm>
            <a:off x="6436157" y="3566160"/>
            <a:ext cx="210312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narcotics seized</a:t>
            </a:r>
            <a:endParaRPr lang="en-US" sz="2200" dirty="0"/>
          </a:p>
        </p:txBody>
      </p:sp>
      <p:sp>
        <p:nvSpPr>
          <p:cNvPr id="13" name="Card"/>
          <p:cNvSpPr/>
          <p:nvPr/>
        </p:nvSpPr>
        <p:spPr>
          <a:xfrm>
            <a:off x="8991295" y="2286000"/>
            <a:ext cx="2560320" cy="3291840"/>
          </a:xfrm>
          <a:prstGeom prst="roundRect">
            <a:avLst>
              <a:gd name="adj" fmla="val 2857"/>
            </a:avLst>
          </a:prstGeom>
          <a:solidFill>
            <a:schemeClr val="bg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219895" y="242316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33</a:t>
            </a:r>
            <a:endParaRPr lang="en-US" sz="5400" dirty="0"/>
          </a:p>
        </p:txBody>
      </p:sp>
      <p:sp>
        <p:nvSpPr>
          <p:cNvPr id="15" name="Text 13"/>
          <p:cNvSpPr txBox="1"/>
          <p:nvPr/>
        </p:nvSpPr>
        <p:spPr>
          <a:xfrm>
            <a:off x="9219895" y="3566160"/>
            <a:ext cx="210312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weapons recovered, with 192 rounds of ammunition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37215" y="6355080"/>
            <a:ext cx="9144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640080" y="365760"/>
            <a:ext cx="1091153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Police are fewer than a third of the staff at joint posts</a:t>
            </a:r>
            <a:endParaRPr lang="en-US" sz="30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640080" y="1371600"/>
            <a:ext cx="109115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Personnel deployed by agency</a:t>
            </a:r>
            <a:endParaRPr lang="en-US" sz="1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2011680"/>
          <a:ext cx="722376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Card"/>
          <p:cNvSpPr/>
          <p:nvPr/>
        </p:nvSpPr>
        <p:spPr>
          <a:xfrm>
            <a:off x="8412480" y="2103120"/>
            <a:ext cx="3136392" cy="18288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8641080" y="2240280"/>
            <a:ext cx="26791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863</a:t>
            </a:r>
            <a:endParaRPr lang="en-US" sz="4400" dirty="0"/>
          </a:p>
        </p:txBody>
      </p:sp>
      <p:sp>
        <p:nvSpPr>
          <p:cNvPr id="7" name="Text 4"/>
          <p:cNvSpPr txBox="1"/>
          <p:nvPr/>
        </p:nvSpPr>
        <p:spPr>
          <a:xfrm>
            <a:off x="8641080" y="3017520"/>
            <a:ext cx="26791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on duty across the fifteen posts</a:t>
            </a:r>
            <a:endParaRPr lang="en-US" sz="2000" dirty="0"/>
          </a:p>
        </p:txBody>
      </p:sp>
      <p:sp>
        <p:nvSpPr>
          <p:cNvPr id="8" name="Card"/>
          <p:cNvSpPr/>
          <p:nvPr/>
        </p:nvSpPr>
        <p:spPr>
          <a:xfrm>
            <a:off x="8412480" y="4206240"/>
            <a:ext cx="3136392" cy="18288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8641080" y="4343400"/>
            <a:ext cx="26791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posts</a:t>
            </a:r>
            <a:endParaRPr lang="en-US" sz="4400" dirty="0"/>
          </a:p>
        </p:txBody>
      </p:sp>
      <p:sp>
        <p:nvSpPr>
          <p:cNvPr id="10" name="Text 7"/>
          <p:cNvSpPr txBox="1"/>
          <p:nvPr/>
        </p:nvSpPr>
        <p:spPr>
          <a:xfrm>
            <a:off x="8641080" y="5120640"/>
            <a:ext cx="26791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by police alone: Kot Tahir and Kot Mithan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37215" y="6355080"/>
            <a:ext cx="9144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640080" y="365760"/>
            <a:ext cx="1091153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Mianwali fields the most police, Kot Addu only five</a:t>
            </a:r>
            <a:endParaRPr lang="en-US" sz="30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640080" y="1371600"/>
            <a:ext cx="109115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Police personnel deployed by district</a:t>
            </a:r>
            <a:endParaRPr lang="en-US" sz="1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2011680"/>
          <a:ext cx="722376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Card"/>
          <p:cNvSpPr/>
          <p:nvPr/>
        </p:nvSpPr>
        <p:spPr>
          <a:xfrm>
            <a:off x="8412480" y="2103120"/>
            <a:ext cx="3136392" cy="18288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8641080" y="2240280"/>
            <a:ext cx="26791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47</a:t>
            </a:r>
            <a:endParaRPr lang="en-US" sz="4400" dirty="0"/>
          </a:p>
        </p:txBody>
      </p:sp>
      <p:sp>
        <p:nvSpPr>
          <p:cNvPr id="7" name="Text 4"/>
          <p:cNvSpPr txBox="1"/>
          <p:nvPr/>
        </p:nvSpPr>
        <p:spPr>
          <a:xfrm>
            <a:off x="8641080" y="3017520"/>
            <a:ext cx="26791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duty shifts planned across the posts</a:t>
            </a:r>
            <a:endParaRPr lang="en-US" sz="2000" dirty="0"/>
          </a:p>
        </p:txBody>
      </p:sp>
      <p:sp>
        <p:nvSpPr>
          <p:cNvPr id="8" name="Card"/>
          <p:cNvSpPr/>
          <p:nvPr/>
        </p:nvSpPr>
        <p:spPr>
          <a:xfrm>
            <a:off x="8412480" y="4206240"/>
            <a:ext cx="3136392" cy="18288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8641080" y="4343400"/>
            <a:ext cx="26791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37</a:t>
            </a:r>
            <a:endParaRPr lang="en-US" sz="4400" dirty="0"/>
          </a:p>
        </p:txBody>
      </p:sp>
      <p:sp>
        <p:nvSpPr>
          <p:cNvPr id="10" name="Text 7"/>
          <p:cNvSpPr txBox="1"/>
          <p:nvPr/>
        </p:nvSpPr>
        <p:spPr>
          <a:xfrm>
            <a:off x="8641080" y="5120640"/>
            <a:ext cx="26791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duties planned across the posts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37215" y="6355080"/>
            <a:ext cx="9144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640080" y="365760"/>
            <a:ext cx="1091153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Constables are 77% of the police at joint posts</a:t>
            </a:r>
            <a:endParaRPr lang="en-US" sz="30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640080" y="1371600"/>
            <a:ext cx="109115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Police personnel by rank, Elite Force and District Police combined</a:t>
            </a:r>
            <a:endParaRPr lang="en-US" sz="1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2011680"/>
          <a:ext cx="722376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Card"/>
          <p:cNvSpPr/>
          <p:nvPr/>
        </p:nvSpPr>
        <p:spPr>
          <a:xfrm>
            <a:off x="8412480" y="2103120"/>
            <a:ext cx="3136392" cy="18288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8641080" y="2240280"/>
            <a:ext cx="26791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45</a:t>
            </a:r>
            <a:endParaRPr lang="en-US" sz="4400" dirty="0"/>
          </a:p>
        </p:txBody>
      </p:sp>
      <p:sp>
        <p:nvSpPr>
          <p:cNvPr id="7" name="Text 4"/>
          <p:cNvSpPr txBox="1"/>
          <p:nvPr/>
        </p:nvSpPr>
        <p:spPr>
          <a:xfrm>
            <a:off x="8641080" y="3017520"/>
            <a:ext cx="26791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Elite Force personnel, 17% of the police</a:t>
            </a:r>
            <a:endParaRPr lang="en-US" sz="2000" dirty="0"/>
          </a:p>
        </p:txBody>
      </p:sp>
      <p:sp>
        <p:nvSpPr>
          <p:cNvPr id="8" name="Card"/>
          <p:cNvSpPr/>
          <p:nvPr/>
        </p:nvSpPr>
        <p:spPr>
          <a:xfrm>
            <a:off x="8412480" y="4206240"/>
            <a:ext cx="3136392" cy="18288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8641080" y="4343400"/>
            <a:ext cx="26791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 of 15</a:t>
            </a:r>
            <a:endParaRPr lang="en-US" sz="4400" dirty="0"/>
          </a:p>
        </p:txBody>
      </p:sp>
      <p:sp>
        <p:nvSpPr>
          <p:cNvPr id="10" name="Text 7"/>
          <p:cNvSpPr txBox="1"/>
          <p:nvPr/>
        </p:nvSpPr>
        <p:spPr>
          <a:xfrm>
            <a:off x="8641080" y="5120640"/>
            <a:ext cx="26791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posts have any Elite Force personnel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37215" y="6355080"/>
            <a:ext cx="9144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640080" y="365760"/>
            <a:ext cx="1091153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Body armour reaches barely half of the police</a:t>
            </a:r>
            <a:endParaRPr lang="en-US" sz="30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640080" y="1371600"/>
            <a:ext cx="109115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Jackets per 100 police at the six least-covered posts</a:t>
            </a:r>
            <a:endParaRPr lang="en-US" sz="1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2011680"/>
          <a:ext cx="722376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Card"/>
          <p:cNvSpPr/>
          <p:nvPr/>
        </p:nvSpPr>
        <p:spPr>
          <a:xfrm>
            <a:off x="8412480" y="2103120"/>
            <a:ext cx="3136392" cy="18288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8641080" y="2240280"/>
            <a:ext cx="26791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52%</a:t>
            </a:r>
            <a:endParaRPr lang="en-US" sz="4400" dirty="0"/>
          </a:p>
        </p:txBody>
      </p:sp>
      <p:sp>
        <p:nvSpPr>
          <p:cNvPr id="7" name="Text 4"/>
          <p:cNvSpPr txBox="1"/>
          <p:nvPr/>
        </p:nvSpPr>
        <p:spPr>
          <a:xfrm>
            <a:off x="8641080" y="3017520"/>
            <a:ext cx="26791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police are covered: 138 jackets for 265</a:t>
            </a:r>
            <a:endParaRPr lang="en-US" sz="2000" dirty="0"/>
          </a:p>
        </p:txBody>
      </p:sp>
      <p:sp>
        <p:nvSpPr>
          <p:cNvPr id="8" name="Card"/>
          <p:cNvSpPr/>
          <p:nvPr/>
        </p:nvSpPr>
        <p:spPr>
          <a:xfrm>
            <a:off x="8412480" y="4206240"/>
            <a:ext cx="3136392" cy="18288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8641080" y="4343400"/>
            <a:ext cx="26791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 of 15</a:t>
            </a:r>
            <a:endParaRPr lang="en-US" sz="4400" dirty="0"/>
          </a:p>
        </p:txBody>
      </p:sp>
      <p:sp>
        <p:nvSpPr>
          <p:cNvPr id="10" name="Text 7"/>
          <p:cNvSpPr txBox="1"/>
          <p:nvPr/>
        </p:nvSpPr>
        <p:spPr>
          <a:xfrm>
            <a:off x="8641080" y="5120640"/>
            <a:ext cx="26791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posts with jackets for under half their police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37215" y="6355080"/>
            <a:ext cx="9144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640080" y="365760"/>
            <a:ext cx="1091153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posts hold no rifle at all</a:t>
            </a:r>
            <a:endParaRPr lang="en-US" sz="30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640080" y="1371600"/>
            <a:ext cx="109115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Weapons held across the fifteen posts</a:t>
            </a:r>
            <a:endParaRPr lang="en-US" sz="1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2011680"/>
          <a:ext cx="722376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Card"/>
          <p:cNvSpPr/>
          <p:nvPr/>
        </p:nvSpPr>
        <p:spPr>
          <a:xfrm>
            <a:off x="8412480" y="2103120"/>
            <a:ext cx="3136392" cy="18288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8641080" y="2240280"/>
            <a:ext cx="26791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42,108</a:t>
            </a:r>
            <a:endParaRPr lang="en-US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8641080" y="3017520"/>
            <a:ext cx="26791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rounds of ammunition held in stock</a:t>
            </a:r>
            <a:endParaRPr lang="en-US" sz="2000" dirty="0"/>
          </a:p>
        </p:txBody>
      </p:sp>
      <p:sp>
        <p:nvSpPr>
          <p:cNvPr id="8" name="Card"/>
          <p:cNvSpPr/>
          <p:nvPr/>
        </p:nvSpPr>
        <p:spPr>
          <a:xfrm>
            <a:off x="8412480" y="4206240"/>
            <a:ext cx="3136392" cy="18288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8641080" y="4343400"/>
            <a:ext cx="26791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rifle</a:t>
            </a:r>
            <a:endParaRPr lang="en-US" sz="3600" dirty="0"/>
          </a:p>
        </p:txBody>
      </p:sp>
      <p:sp>
        <p:nvSpPr>
          <p:cNvPr id="10" name="Text 7"/>
          <p:cNvSpPr txBox="1"/>
          <p:nvPr/>
        </p:nvSpPr>
        <p:spPr>
          <a:xfrm>
            <a:off x="8641080" y="5120640"/>
            <a:ext cx="26791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Bhutan Wala, Ghazi Ghat, Kot Tahir, Kot Mithan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37215" y="6355080"/>
            <a:ext cx="9144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640080" y="365760"/>
            <a:ext cx="1091153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Eleven cameras and six boundary walls need attention</a:t>
            </a:r>
            <a:endParaRPr lang="en-US" sz="30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640080" y="1371600"/>
            <a:ext cx="109115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status and boundary wall completion</a:t>
            </a:r>
            <a:endParaRPr lang="en-US" sz="1800" dirty="0"/>
          </a:p>
        </p:txBody>
      </p:sp>
      <p:sp>
        <p:nvSpPr>
          <p:cNvPr id="4" name="Key"/>
          <p:cNvSpPr/>
          <p:nvPr/>
        </p:nvSpPr>
        <p:spPr>
          <a:xfrm>
            <a:off x="640080" y="1984248"/>
            <a:ext cx="182880" cy="182880"/>
          </a:xfrm>
          <a:prstGeom prst="rect">
            <a:avLst/>
          </a:prstGeom>
          <a:solidFill>
            <a:srgbClr val="1B7F5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14400" y="1920240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/ complete</a:t>
            </a:r>
            <a:endParaRPr lang="en-US" sz="1600" dirty="0"/>
          </a:p>
        </p:txBody>
      </p:sp>
      <p:sp>
        <p:nvSpPr>
          <p:cNvPr id="6" name="Key"/>
          <p:cNvSpPr/>
          <p:nvPr/>
        </p:nvSpPr>
        <p:spPr>
          <a:xfrm>
            <a:off x="3474720" y="1984248"/>
            <a:ext cx="182880" cy="182880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3749040" y="1920240"/>
            <a:ext cx="24460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Faulty / incomplete</a:t>
            </a:r>
            <a:endParaRPr lang="en-US" sz="1600" dirty="0"/>
          </a:p>
        </p:txBody>
      </p:sp>
      <p:sp>
        <p:nvSpPr>
          <p:cNvPr id="8" name="Key"/>
          <p:cNvSpPr/>
          <p:nvPr/>
        </p:nvSpPr>
        <p:spPr>
          <a:xfrm>
            <a:off x="6423660" y="1984248"/>
            <a:ext cx="182880" cy="182880"/>
          </a:xfrm>
          <a:prstGeom prst="rect">
            <a:avLst/>
          </a:prstGeom>
          <a:solidFill>
            <a:srgbClr val="7C878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697980" y="1920240"/>
            <a:ext cx="22174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/ unreported</a:t>
            </a:r>
            <a:endParaRPr lang="en-US" sz="1600" dirty="0"/>
          </a:p>
        </p:txBody>
      </p:sp>
      <p:graphicFrame>
        <p:nvGraphicFramePr>
          <p:cNvPr id="10" name="Chart 0" descr=""/>
          <p:cNvGraphicFramePr/>
          <p:nvPr/>
        </p:nvGraphicFramePr>
        <p:xfrm>
          <a:off x="640080" y="2377440"/>
          <a:ext cx="722376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1" name="Card"/>
          <p:cNvSpPr/>
          <p:nvPr/>
        </p:nvSpPr>
        <p:spPr>
          <a:xfrm>
            <a:off x="8412480" y="2103120"/>
            <a:ext cx="3136392" cy="18288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8641080" y="2240280"/>
            <a:ext cx="26791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4400" dirty="0"/>
          </a:p>
        </p:txBody>
      </p:sp>
      <p:sp>
        <p:nvSpPr>
          <p:cNvPr id="13" name="Text 10"/>
          <p:cNvSpPr txBox="1"/>
          <p:nvPr/>
        </p:nvSpPr>
        <p:spPr>
          <a:xfrm>
            <a:off x="8641080" y="3017520"/>
            <a:ext cx="26791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vehicles for fifteen posts</a:t>
            </a:r>
            <a:endParaRPr lang="en-US" sz="2000" dirty="0"/>
          </a:p>
        </p:txBody>
      </p:sp>
      <p:sp>
        <p:nvSpPr>
          <p:cNvPr id="14" name="Card"/>
          <p:cNvSpPr/>
          <p:nvPr/>
        </p:nvSpPr>
        <p:spPr>
          <a:xfrm>
            <a:off x="8412480" y="4206240"/>
            <a:ext cx="3136392" cy="18288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8641080" y="4343400"/>
            <a:ext cx="26791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4400" dirty="0"/>
          </a:p>
        </p:txBody>
      </p:sp>
      <p:sp>
        <p:nvSpPr>
          <p:cNvPr id="16" name="Text 13"/>
          <p:cNvSpPr txBox="1"/>
          <p:nvPr/>
        </p:nvSpPr>
        <p:spPr>
          <a:xfrm>
            <a:off x="8641080" y="5120640"/>
            <a:ext cx="26791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motorcycles at any post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37215" y="6355080"/>
            <a:ext cx="9144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640080" y="365760"/>
            <a:ext cx="1091153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Arrests climbed 45% from January to September</a:t>
            </a:r>
            <a:endParaRPr lang="en-US" sz="30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640080" y="1371600"/>
            <a:ext cx="109115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Offenders arrested in each quarter</a:t>
            </a:r>
            <a:endParaRPr lang="en-US" sz="1800" dirty="0"/>
          </a:p>
        </p:txBody>
      </p:sp>
      <p:sp>
        <p:nvSpPr>
          <p:cNvPr id="4" name="Key"/>
          <p:cNvSpPr/>
          <p:nvPr/>
        </p:nvSpPr>
        <p:spPr>
          <a:xfrm>
            <a:off x="640080" y="1984248"/>
            <a:ext cx="182880" cy="182880"/>
          </a:xfrm>
          <a:prstGeom prst="rect">
            <a:avLst/>
          </a:prstGeom>
          <a:solidFill>
            <a:srgbClr val="0F5A3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14400" y="1920240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Proclaimed offenders</a:t>
            </a:r>
            <a:endParaRPr lang="en-US" sz="1600" dirty="0"/>
          </a:p>
        </p:txBody>
      </p:sp>
      <p:sp>
        <p:nvSpPr>
          <p:cNvPr id="6" name="Key"/>
          <p:cNvSpPr/>
          <p:nvPr/>
        </p:nvSpPr>
        <p:spPr>
          <a:xfrm>
            <a:off x="3703320" y="1984248"/>
            <a:ext cx="182880" cy="182880"/>
          </a:xfrm>
          <a:prstGeom prst="rect">
            <a:avLst/>
          </a:prstGeom>
          <a:solidFill>
            <a:srgbClr val="4C9F7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3977640" y="1920240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Court absconders</a:t>
            </a:r>
            <a:endParaRPr lang="en-US" sz="1600" dirty="0"/>
          </a:p>
        </p:txBody>
      </p:sp>
      <p:sp>
        <p:nvSpPr>
          <p:cNvPr id="8" name="Key"/>
          <p:cNvSpPr/>
          <p:nvPr/>
        </p:nvSpPr>
        <p:spPr>
          <a:xfrm>
            <a:off x="6309360" y="1984248"/>
            <a:ext cx="182880" cy="182880"/>
          </a:xfrm>
          <a:prstGeom prst="rect">
            <a:avLst/>
          </a:prstGeom>
          <a:solidFill>
            <a:srgbClr val="7C878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583680" y="1920240"/>
            <a:ext cx="6172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TOs</a:t>
            </a:r>
            <a:endParaRPr lang="en-US" sz="1600" dirty="0"/>
          </a:p>
        </p:txBody>
      </p:sp>
      <p:graphicFrame>
        <p:nvGraphicFramePr>
          <p:cNvPr id="10" name="Chart 0" descr=""/>
          <p:cNvGraphicFramePr/>
          <p:nvPr/>
        </p:nvGraphicFramePr>
        <p:xfrm>
          <a:off x="640080" y="2286000"/>
          <a:ext cx="722376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1" name="Card"/>
          <p:cNvSpPr/>
          <p:nvPr/>
        </p:nvSpPr>
        <p:spPr>
          <a:xfrm>
            <a:off x="8412480" y="2103120"/>
            <a:ext cx="3136392" cy="3931920"/>
          </a:xfrm>
          <a:prstGeom prst="roundRect">
            <a:avLst>
              <a:gd name="adj" fmla="val 2332"/>
            </a:avLst>
          </a:prstGeom>
          <a:solidFill>
            <a:schemeClr val="bg2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8641080" y="2240280"/>
            <a:ext cx="26791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483 of 619</a:t>
            </a:r>
            <a:endParaRPr lang="en-US" sz="4400" dirty="0"/>
          </a:p>
        </p:txBody>
      </p:sp>
      <p:sp>
        <p:nvSpPr>
          <p:cNvPr id="13" name="Text 10"/>
          <p:cNvSpPr txBox="1"/>
          <p:nvPr/>
        </p:nvSpPr>
        <p:spPr>
          <a:xfrm>
            <a:off x="8641080" y="3200400"/>
            <a:ext cx="2679192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arrests were TOs, the largest group in every quarter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37215" y="6355080"/>
            <a:ext cx="9144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640080" y="365760"/>
            <a:ext cx="1091153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Afghan arrests surged to 284 in July–September</a:t>
            </a:r>
            <a:endParaRPr lang="en-US" sz="30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640080" y="1371600"/>
            <a:ext cx="109115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Illegal Afghan nationals arrested in each quarter</a:t>
            </a:r>
            <a:endParaRPr lang="en-US" sz="1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2286000"/>
          <a:ext cx="722376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Card"/>
          <p:cNvSpPr/>
          <p:nvPr/>
        </p:nvSpPr>
        <p:spPr>
          <a:xfrm>
            <a:off x="8412480" y="2103120"/>
            <a:ext cx="3136392" cy="18288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8641080" y="2240280"/>
            <a:ext cx="26791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230</a:t>
            </a:r>
            <a:endParaRPr lang="en-US" sz="4400" dirty="0"/>
          </a:p>
        </p:txBody>
      </p:sp>
      <p:sp>
        <p:nvSpPr>
          <p:cNvPr id="7" name="Text 4"/>
          <p:cNvSpPr txBox="1"/>
          <p:nvPr/>
        </p:nvSpPr>
        <p:spPr>
          <a:xfrm>
            <a:off x="8641080" y="3017520"/>
            <a:ext cx="26791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Sakhi Sarwar alone in July–September</a:t>
            </a:r>
            <a:endParaRPr lang="en-US" sz="2000" dirty="0"/>
          </a:p>
        </p:txBody>
      </p:sp>
      <p:sp>
        <p:nvSpPr>
          <p:cNvPr id="8" name="Card"/>
          <p:cNvSpPr/>
          <p:nvPr/>
        </p:nvSpPr>
        <p:spPr>
          <a:xfrm>
            <a:off x="8412480" y="4206240"/>
            <a:ext cx="3136392" cy="18288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8641080" y="4343400"/>
            <a:ext cx="26791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53</a:t>
            </a:r>
            <a:endParaRPr lang="en-US" sz="4400" dirty="0"/>
          </a:p>
        </p:txBody>
      </p:sp>
      <p:sp>
        <p:nvSpPr>
          <p:cNvPr id="10" name="Text 7"/>
          <p:cNvSpPr txBox="1"/>
          <p:nvPr/>
        </p:nvSpPr>
        <p:spPr>
          <a:xfrm>
            <a:off x="8641080" y="5120640"/>
            <a:ext cx="26791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Ghazi Ghat, the second-highest post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37215" y="6355080"/>
            <a:ext cx="9144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640080" y="365760"/>
            <a:ext cx="1091153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Narcotics seizures doubled, then fell 80% in July–September</a:t>
            </a:r>
            <a:endParaRPr lang="en-US" sz="30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640080" y="1371600"/>
            <a:ext cx="109115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Narcotics seized in each quarter, kilograms</a:t>
            </a:r>
            <a:endParaRPr lang="en-US" sz="1800" dirty="0"/>
          </a:p>
        </p:txBody>
      </p:sp>
      <p:sp>
        <p:nvSpPr>
          <p:cNvPr id="4" name="Key"/>
          <p:cNvSpPr/>
          <p:nvPr/>
        </p:nvSpPr>
        <p:spPr>
          <a:xfrm>
            <a:off x="640080" y="1984248"/>
            <a:ext cx="182880" cy="182880"/>
          </a:xfrm>
          <a:prstGeom prst="rect">
            <a:avLst/>
          </a:prstGeom>
          <a:solidFill>
            <a:srgbClr val="0F5A3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14400" y="1920240"/>
            <a:ext cx="8458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Chars</a:t>
            </a:r>
            <a:endParaRPr lang="en-US" sz="1600" dirty="0"/>
          </a:p>
        </p:txBody>
      </p:sp>
      <p:sp>
        <p:nvSpPr>
          <p:cNvPr id="6" name="Key"/>
          <p:cNvSpPr/>
          <p:nvPr/>
        </p:nvSpPr>
        <p:spPr>
          <a:xfrm>
            <a:off x="1988820" y="1984248"/>
            <a:ext cx="182880" cy="182880"/>
          </a:xfrm>
          <a:prstGeom prst="rect">
            <a:avLst/>
          </a:prstGeom>
          <a:solidFill>
            <a:srgbClr val="4C9F7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2263140" y="1920240"/>
            <a:ext cx="6172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ICE</a:t>
            </a:r>
            <a:endParaRPr lang="en-US" sz="1600" dirty="0"/>
          </a:p>
        </p:txBody>
      </p:sp>
      <p:sp>
        <p:nvSpPr>
          <p:cNvPr id="8" name="Key"/>
          <p:cNvSpPr/>
          <p:nvPr/>
        </p:nvSpPr>
        <p:spPr>
          <a:xfrm>
            <a:off x="3108960" y="1984248"/>
            <a:ext cx="182880" cy="182880"/>
          </a:xfrm>
          <a:prstGeom prst="rect">
            <a:avLst/>
          </a:prstGeom>
          <a:solidFill>
            <a:srgbClr val="7C878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383280" y="1920240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Heroin and opium</a:t>
            </a:r>
            <a:endParaRPr lang="en-US" sz="1600" dirty="0"/>
          </a:p>
        </p:txBody>
      </p:sp>
      <p:graphicFrame>
        <p:nvGraphicFramePr>
          <p:cNvPr id="10" name="Chart 0" descr=""/>
          <p:cNvGraphicFramePr/>
          <p:nvPr/>
        </p:nvGraphicFramePr>
        <p:xfrm>
          <a:off x="640080" y="2286000"/>
          <a:ext cx="722376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1" name="Card"/>
          <p:cNvSpPr/>
          <p:nvPr/>
        </p:nvSpPr>
        <p:spPr>
          <a:xfrm>
            <a:off x="8412480" y="2103120"/>
            <a:ext cx="3136392" cy="18288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8641080" y="2240280"/>
            <a:ext cx="26791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308 kg</a:t>
            </a:r>
            <a:endParaRPr lang="en-US" sz="4000" dirty="0"/>
          </a:p>
        </p:txBody>
      </p:sp>
      <p:sp>
        <p:nvSpPr>
          <p:cNvPr id="13" name="Text 10"/>
          <p:cNvSpPr txBox="1"/>
          <p:nvPr/>
        </p:nvSpPr>
        <p:spPr>
          <a:xfrm>
            <a:off x="8641080" y="3017520"/>
            <a:ext cx="26791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Chars, 93% of all narcotics by weight</a:t>
            </a:r>
            <a:endParaRPr lang="en-US" sz="2000" dirty="0"/>
          </a:p>
        </p:txBody>
      </p:sp>
      <p:sp>
        <p:nvSpPr>
          <p:cNvPr id="14" name="Card"/>
          <p:cNvSpPr/>
          <p:nvPr/>
        </p:nvSpPr>
        <p:spPr>
          <a:xfrm>
            <a:off x="8412480" y="4206240"/>
            <a:ext cx="3136392" cy="18288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8641080" y="4343400"/>
            <a:ext cx="26791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19.4 kg</a:t>
            </a:r>
            <a:endParaRPr lang="en-US" sz="4000" dirty="0"/>
          </a:p>
        </p:txBody>
      </p:sp>
      <p:sp>
        <p:nvSpPr>
          <p:cNvPr id="16" name="Text 13"/>
          <p:cNvSpPr txBox="1"/>
          <p:nvPr/>
        </p:nvSpPr>
        <p:spPr>
          <a:xfrm>
            <a:off x="8641080" y="5120640"/>
            <a:ext cx="26791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ICE seized over nine months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37215" y="6355080"/>
            <a:ext cx="9144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640080" y="365760"/>
            <a:ext cx="1091153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Weapon recoveries peaked in April–June</a:t>
            </a:r>
            <a:endParaRPr lang="en-US" sz="30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640080" y="1371600"/>
            <a:ext cx="109115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Weapons recovered in each quarter</a:t>
            </a:r>
            <a:endParaRPr lang="en-US" sz="1800" dirty="0"/>
          </a:p>
        </p:txBody>
      </p:sp>
      <p:sp>
        <p:nvSpPr>
          <p:cNvPr id="4" name="Key"/>
          <p:cNvSpPr/>
          <p:nvPr/>
        </p:nvSpPr>
        <p:spPr>
          <a:xfrm>
            <a:off x="640080" y="1984248"/>
            <a:ext cx="182880" cy="182880"/>
          </a:xfrm>
          <a:prstGeom prst="rect">
            <a:avLst/>
          </a:prstGeom>
          <a:solidFill>
            <a:srgbClr val="0F5A3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14400" y="1920240"/>
            <a:ext cx="10744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Pistols</a:t>
            </a:r>
            <a:endParaRPr lang="en-US" sz="1600" dirty="0"/>
          </a:p>
        </p:txBody>
      </p:sp>
      <p:sp>
        <p:nvSpPr>
          <p:cNvPr id="6" name="Key"/>
          <p:cNvSpPr/>
          <p:nvPr/>
        </p:nvSpPr>
        <p:spPr>
          <a:xfrm>
            <a:off x="2217420" y="1984248"/>
            <a:ext cx="182880" cy="182880"/>
          </a:xfrm>
          <a:prstGeom prst="rect">
            <a:avLst/>
          </a:prstGeom>
          <a:solidFill>
            <a:srgbClr val="7C878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2491740" y="1920240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Kalashnikovs</a:t>
            </a:r>
            <a:endParaRPr lang="en-US" sz="16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640080" y="2286000"/>
          <a:ext cx="722376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Card"/>
          <p:cNvSpPr/>
          <p:nvPr/>
        </p:nvSpPr>
        <p:spPr>
          <a:xfrm>
            <a:off x="8412480" y="2103120"/>
            <a:ext cx="3136392" cy="18288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641080" y="2240280"/>
            <a:ext cx="26791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91%</a:t>
            </a:r>
            <a:endParaRPr lang="en-US" sz="4400" dirty="0"/>
          </a:p>
        </p:txBody>
      </p:sp>
      <p:sp>
        <p:nvSpPr>
          <p:cNvPr id="11" name="Text 8"/>
          <p:cNvSpPr txBox="1"/>
          <p:nvPr/>
        </p:nvSpPr>
        <p:spPr>
          <a:xfrm>
            <a:off x="8641080" y="3017520"/>
            <a:ext cx="26791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weapons recovered are pistols</a:t>
            </a:r>
            <a:endParaRPr lang="en-US" sz="2000" dirty="0"/>
          </a:p>
        </p:txBody>
      </p:sp>
      <p:sp>
        <p:nvSpPr>
          <p:cNvPr id="12" name="Card"/>
          <p:cNvSpPr/>
          <p:nvPr/>
        </p:nvSpPr>
        <p:spPr>
          <a:xfrm>
            <a:off x="8412480" y="4206240"/>
            <a:ext cx="3136392" cy="18288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8641080" y="4343400"/>
            <a:ext cx="26791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96 → 76 → 20</a:t>
            </a:r>
            <a:endParaRPr lang="en-US" sz="3400" dirty="0"/>
          </a:p>
        </p:txBody>
      </p:sp>
      <p:sp>
        <p:nvSpPr>
          <p:cNvPr id="14" name="Text 11"/>
          <p:cNvSpPr txBox="1"/>
          <p:nvPr/>
        </p:nvSpPr>
        <p:spPr>
          <a:xfrm>
            <a:off x="8641080" y="5120640"/>
            <a:ext cx="26791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rounds of ammunition recovered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37215" y="6355080"/>
            <a:ext cx="9144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640080" y="365760"/>
            <a:ext cx="1091153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D.G.Khan leads on arrests, Attock on narcotics</a:t>
            </a:r>
            <a:endParaRPr lang="en-US" sz="30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640080" y="1371600"/>
            <a:ext cx="109115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Nine-month results by district</a:t>
            </a:r>
            <a:endParaRPr lang="en-US" sz="18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965960"/>
          <a:ext cx="10911535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2103120"/>
                <a:gridCol w="2286000"/>
                <a:gridCol w="2103120"/>
                <a:gridCol w="2039112"/>
              </a:tblGrid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5F6A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District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E26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5F6A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Offenders arrested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E26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5F6A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Afghan nationals arrested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E26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5F6A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Narcotics seized (kg)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E26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5F6A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Weapons recovered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E26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212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200" b="1" dirty="0">
                          <a:solidFill>
                            <a:srgbClr val="1E26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D.G.Khan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0F5A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174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0F5A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330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dirty="0">
                          <a:solidFill>
                            <a:srgbClr val="1E26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67.1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dirty="0">
                          <a:solidFill>
                            <a:srgbClr val="1E26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212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200" b="1" dirty="0">
                          <a:solidFill>
                            <a:srgbClr val="1E26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Attock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dirty="0">
                          <a:solidFill>
                            <a:srgbClr val="B9C0B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dirty="0">
                          <a:solidFill>
                            <a:srgbClr val="B9C0B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0F5A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260.8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0F5A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0"/>
                    </a:solidFill>
                  </a:tcPr>
                </a:tc>
              </a:tr>
              <a:tr h="5212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200" b="1" dirty="0">
                          <a:solidFill>
                            <a:srgbClr val="1E26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Bhakkar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dirty="0">
                          <a:solidFill>
                            <a:srgbClr val="1E26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115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dirty="0">
                          <a:solidFill>
                            <a:srgbClr val="B9C0B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dirty="0">
                          <a:solidFill>
                            <a:srgbClr val="1E26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4.0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dirty="0">
                          <a:solidFill>
                            <a:srgbClr val="1E26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212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200" b="1" dirty="0">
                          <a:solidFill>
                            <a:srgbClr val="1E26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Kot Addu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dirty="0">
                          <a:solidFill>
                            <a:srgbClr val="1E26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101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dirty="0">
                          <a:solidFill>
                            <a:srgbClr val="1E26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dirty="0">
                          <a:solidFill>
                            <a:srgbClr val="B9C0B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dirty="0">
                          <a:solidFill>
                            <a:srgbClr val="B9C0B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212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200" b="1" dirty="0">
                          <a:solidFill>
                            <a:srgbClr val="1E26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Rajanpur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dirty="0">
                          <a:solidFill>
                            <a:srgbClr val="1E26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dirty="0">
                          <a:solidFill>
                            <a:srgbClr val="B9C0B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dirty="0">
                          <a:solidFill>
                            <a:srgbClr val="B9C0B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dirty="0">
                          <a:solidFill>
                            <a:srgbClr val="B9C0B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212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200" b="1" dirty="0">
                          <a:solidFill>
                            <a:srgbClr val="1E26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R.Y Khan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dirty="0">
                          <a:solidFill>
                            <a:srgbClr val="1E26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91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dirty="0">
                          <a:solidFill>
                            <a:srgbClr val="B9C0B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dirty="0">
                          <a:solidFill>
                            <a:srgbClr val="B9C0B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dirty="0">
                          <a:solidFill>
                            <a:srgbClr val="1E26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212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200" b="1" dirty="0">
                          <a:solidFill>
                            <a:srgbClr val="1E26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Mianwali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dirty="0">
                          <a:solidFill>
                            <a:srgbClr val="1E26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63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dirty="0">
                          <a:solidFill>
                            <a:srgbClr val="1E26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dirty="0">
                          <a:solidFill>
                            <a:srgbClr val="1E26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dirty="0">
                          <a:solidFill>
                            <a:srgbClr val="1E26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37215" y="6355080"/>
            <a:ext cx="9144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640080" y="365760"/>
            <a:ext cx="1091153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Small posts punch above their weight</a:t>
            </a:r>
            <a:endParaRPr lang="en-US" sz="30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640080" y="1371600"/>
            <a:ext cx="109115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Persons arrested per person on duty, nine months</a:t>
            </a:r>
            <a:endParaRPr lang="en-US" sz="1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2011680"/>
          <a:ext cx="722376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Card"/>
          <p:cNvSpPr/>
          <p:nvPr/>
        </p:nvSpPr>
        <p:spPr>
          <a:xfrm>
            <a:off x="8412480" y="2103120"/>
            <a:ext cx="3136392" cy="18288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8641080" y="2240280"/>
            <a:ext cx="26791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62 by 9</a:t>
            </a:r>
            <a:endParaRPr lang="en-US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8641080" y="3017520"/>
            <a:ext cx="26791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arrests by nine police, with no partner agency</a:t>
            </a:r>
            <a:endParaRPr lang="en-US" sz="2000" dirty="0"/>
          </a:p>
        </p:txBody>
      </p:sp>
      <p:sp>
        <p:nvSpPr>
          <p:cNvPr id="8" name="Card"/>
          <p:cNvSpPr/>
          <p:nvPr/>
        </p:nvSpPr>
        <p:spPr>
          <a:xfrm>
            <a:off x="8412480" y="4206240"/>
            <a:ext cx="3136392" cy="18288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8641080" y="4343400"/>
            <a:ext cx="26791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4400" dirty="0"/>
          </a:p>
        </p:txBody>
      </p:sp>
      <p:sp>
        <p:nvSpPr>
          <p:cNvPr id="10" name="Text 7"/>
          <p:cNvSpPr txBox="1"/>
          <p:nvPr/>
        </p:nvSpPr>
        <p:spPr>
          <a:xfrm>
            <a:off x="8641080" y="5120640"/>
            <a:ext cx="26791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arrests recorded at the two Attock posts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37215" y="6355080"/>
            <a:ext cx="9144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640080" y="365760"/>
            <a:ext cx="1091153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Sustain, equip and connect: four priorities</a:t>
            </a:r>
            <a:endParaRPr lang="en-US" sz="30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640080" y="1371600"/>
            <a:ext cx="109115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way forward for the coming quarter</a:t>
            </a:r>
            <a:endParaRPr lang="en-US" sz="1800" dirty="0"/>
          </a:p>
        </p:txBody>
      </p:sp>
      <p:sp>
        <p:nvSpPr>
          <p:cNvPr id="4" name="Card"/>
          <p:cNvSpPr/>
          <p:nvPr/>
        </p:nvSpPr>
        <p:spPr>
          <a:xfrm>
            <a:off x="640080" y="2103120"/>
            <a:ext cx="5272888" cy="192024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/>
        </p:spPr>
      </p:sp>
      <p:sp>
        <p:nvSpPr>
          <p:cNvPr id="5" name="Number badge"/>
          <p:cNvSpPr/>
          <p:nvPr/>
        </p:nvSpPr>
        <p:spPr>
          <a:xfrm>
            <a:off x="914400" y="237744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14400" y="23774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1783080" y="2331720"/>
            <a:ext cx="39012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Sustain the narcotics push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1783080" y="2834640"/>
            <a:ext cx="390128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Restore interdiction at Attock and Trimin, where seizures fell in July–September.</a:t>
            </a:r>
            <a:endParaRPr lang="en-US" sz="2000" dirty="0"/>
          </a:p>
        </p:txBody>
      </p:sp>
      <p:sp>
        <p:nvSpPr>
          <p:cNvPr id="9" name="Card"/>
          <p:cNvSpPr/>
          <p:nvPr/>
        </p:nvSpPr>
        <p:spPr>
          <a:xfrm>
            <a:off x="6278728" y="2103120"/>
            <a:ext cx="5272888" cy="192024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/>
        </p:spPr>
      </p:sp>
      <p:sp>
        <p:nvSpPr>
          <p:cNvPr id="10" name="Number badge"/>
          <p:cNvSpPr/>
          <p:nvPr/>
        </p:nvSpPr>
        <p:spPr>
          <a:xfrm>
            <a:off x="6553048" y="237744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553048" y="23774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7421728" y="2331720"/>
            <a:ext cx="39012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Arm and protect every post</a:t>
            </a:r>
            <a:endParaRPr lang="en-US" sz="2400" dirty="0"/>
          </a:p>
        </p:txBody>
      </p:sp>
      <p:sp>
        <p:nvSpPr>
          <p:cNvPr id="13" name="Text 11"/>
          <p:cNvSpPr txBox="1"/>
          <p:nvPr/>
        </p:nvSpPr>
        <p:spPr>
          <a:xfrm>
            <a:off x="7421728" y="2834640"/>
            <a:ext cx="390128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 jackets where cover is weakest and rifles at the four posts without one.</a:t>
            </a:r>
            <a:endParaRPr lang="en-US" sz="2000" dirty="0"/>
          </a:p>
        </p:txBody>
      </p:sp>
      <p:sp>
        <p:nvSpPr>
          <p:cNvPr id="14" name="Card"/>
          <p:cNvSpPr/>
          <p:nvPr/>
        </p:nvSpPr>
        <p:spPr>
          <a:xfrm>
            <a:off x="640080" y="4297680"/>
            <a:ext cx="5272888" cy="192024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/>
        </p:spPr>
      </p:sp>
      <p:sp>
        <p:nvSpPr>
          <p:cNvPr id="15" name="Number badge"/>
          <p:cNvSpPr/>
          <p:nvPr/>
        </p:nvSpPr>
        <p:spPr>
          <a:xfrm>
            <a:off x="914400" y="457200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14400" y="45720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17" name="Text 15"/>
          <p:cNvSpPr txBox="1"/>
          <p:nvPr/>
        </p:nvSpPr>
        <p:spPr>
          <a:xfrm>
            <a:off x="1783080" y="4526280"/>
            <a:ext cx="39012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Fix cameras, add mobility</a:t>
            </a:r>
            <a:endParaRPr lang="en-US" sz="2400" dirty="0"/>
          </a:p>
        </p:txBody>
      </p:sp>
      <p:sp>
        <p:nvSpPr>
          <p:cNvPr id="18" name="Text 16"/>
          <p:cNvSpPr txBox="1"/>
          <p:nvPr/>
        </p:nvSpPr>
        <p:spPr>
          <a:xfrm>
            <a:off x="1783080" y="5029200"/>
            <a:ext cx="390128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or confirm the eleven cameras; add vehicles and motorcycles.</a:t>
            </a:r>
            <a:endParaRPr lang="en-US" sz="2000" dirty="0"/>
          </a:p>
        </p:txBody>
      </p:sp>
      <p:sp>
        <p:nvSpPr>
          <p:cNvPr id="19" name="Card"/>
          <p:cNvSpPr/>
          <p:nvPr/>
        </p:nvSpPr>
        <p:spPr>
          <a:xfrm>
            <a:off x="6278728" y="4297680"/>
            <a:ext cx="5272888" cy="192024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/>
        </p:spPr>
      </p:sp>
      <p:sp>
        <p:nvSpPr>
          <p:cNvPr id="20" name="Number badge"/>
          <p:cNvSpPr/>
          <p:nvPr/>
        </p:nvSpPr>
        <p:spPr>
          <a:xfrm>
            <a:off x="6553048" y="457200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553048" y="45720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600" dirty="0"/>
          </a:p>
        </p:txBody>
      </p:sp>
      <p:sp>
        <p:nvSpPr>
          <p:cNvPr id="22" name="Text 20"/>
          <p:cNvSpPr txBox="1"/>
          <p:nvPr/>
        </p:nvSpPr>
        <p:spPr>
          <a:xfrm>
            <a:off x="7421728" y="4526280"/>
            <a:ext cx="39012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Bring partners to Rajanpur</a:t>
            </a:r>
            <a:endParaRPr lang="en-US" sz="2400" dirty="0"/>
          </a:p>
        </p:txBody>
      </p:sp>
      <p:sp>
        <p:nvSpPr>
          <p:cNvPr id="23" name="Text 21"/>
          <p:cNvSpPr txBox="1"/>
          <p:nvPr/>
        </p:nvSpPr>
        <p:spPr>
          <a:xfrm>
            <a:off x="7421728" y="5029200"/>
            <a:ext cx="390128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Kot Tahir and Kot Mithan work with police alone; add Rangers and Customs.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37215" y="6355080"/>
            <a:ext cx="9144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unjab Police Executive">
  <a:themeElements>
    <a:clrScheme name="Punjab Police Executive">
      <a:dk1>
        <a:srgbClr val="1E2622"/>
      </a:dk1>
      <a:lt1>
        <a:srgbClr val="FFFFFF"/>
      </a:lt1>
      <a:dk2>
        <a:srgbClr val="0F5A3F"/>
      </a:dk2>
      <a:lt2>
        <a:srgbClr val="EEF4F0"/>
      </a:lt2>
      <a:accent1>
        <a:srgbClr val="1B7F5C"/>
      </a:accent1>
      <a:accent2>
        <a:srgbClr val="5DAA86"/>
      </a:accent2>
      <a:accent3>
        <a:srgbClr val="B9C0BC"/>
      </a:accent3>
      <a:accent4>
        <a:srgbClr val="C8372D"/>
      </a:accent4>
      <a:accent5>
        <a:srgbClr val="5F6A65"/>
      </a:accent5>
      <a:accent6>
        <a:srgbClr val="D9DEDB"/>
      </a:accent6>
      <a:hlink>
        <a:srgbClr val="1B7F5C"/>
      </a:hlink>
      <a:folHlink>
        <a:srgbClr val="5F6A65"/>
      </a:folHlink>
    </a:clrScheme>
    <a:fontScheme name="Punjab Police Executiv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Joint Check Posts – Quarterly Review</dc:title>
  <dc:subject>PptxGenJS Presentation</dc:subject>
  <dc:creator>District Police</dc:creator>
  <cp:lastModifiedBy>District Police</cp:lastModifiedBy>
  <cp:revision>1</cp:revision>
  <dcterms:created xsi:type="dcterms:W3CDTF">2026-10-08T17:55:33Z</dcterms:created>
  <dcterms:modified xsi:type="dcterms:W3CDTF">2026-10-08T17:55:33Z</dcterms:modified>
</cp:coreProperties>
</file>